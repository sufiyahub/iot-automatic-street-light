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1"/>
  </p:notesMasterIdLst>
  <p:handoutMasterIdLst>
    <p:handoutMasterId r:id="rId22"/>
  </p:handoutMasterIdLst>
  <p:sldIdLst>
    <p:sldId id="319" r:id="rId5"/>
    <p:sldId id="322" r:id="rId6"/>
    <p:sldId id="325" r:id="rId7"/>
    <p:sldId id="323" r:id="rId8"/>
    <p:sldId id="326" r:id="rId9"/>
    <p:sldId id="335" r:id="rId10"/>
    <p:sldId id="327" r:id="rId11"/>
    <p:sldId id="333" r:id="rId12"/>
    <p:sldId id="328" r:id="rId13"/>
    <p:sldId id="329" r:id="rId14"/>
    <p:sldId id="336" r:id="rId15"/>
    <p:sldId id="332" r:id="rId16"/>
    <p:sldId id="337" r:id="rId17"/>
    <p:sldId id="331" r:id="rId18"/>
    <p:sldId id="338" r:id="rId19"/>
    <p:sldId id="282" r:id="rId2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8C8C"/>
    <a:srgbClr val="FDFBF6"/>
    <a:srgbClr val="226E8C"/>
    <a:srgbClr val="D4D593"/>
    <a:srgbClr val="202C8F"/>
    <a:srgbClr val="AAC4E9"/>
    <a:srgbClr val="F5CDCE"/>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370F41-6728-CD5E-AB34-2023427951FA}" v="9" dt="2025-12-04T15:33:52.404"/>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452" autoAdjust="0"/>
  </p:normalViewPr>
  <p:slideViewPr>
    <p:cSldViewPr snapToGrid="0">
      <p:cViewPr>
        <p:scale>
          <a:sx n="77" d="100"/>
          <a:sy n="77" d="100"/>
        </p:scale>
        <p:origin x="244" y="12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4110138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2508814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019397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add text</a:t>
            </a:r>
          </a:p>
          <a:p>
            <a:pPr lvl="1"/>
            <a:r>
              <a:rPr lang="en-US"/>
              <a:t>Second level</a:t>
            </a:r>
          </a:p>
          <a:p>
            <a:pPr lvl="2"/>
            <a:r>
              <a:rPr lang="en-US"/>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p:txBody>
          <a:bodyPr anchor="ctr" anchorCtr="0"/>
          <a:lstStyle/>
          <a:p>
            <a:r>
              <a:rPr lang="en-US"/>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youtu.be/Zn8MMA2-Opw?si=J1SXnGE5jRbFM34h" TargetMode="External"/><Relationship Id="rId2" Type="http://schemas.openxmlformats.org/officeDocument/2006/relationships/image" Target="../media/image19.jpeg"/><Relationship Id="rId1" Type="http://schemas.openxmlformats.org/officeDocument/2006/relationships/slideLayout" Target="../slideLayouts/slideLayout14.xml"/><Relationship Id="rId6" Type="http://schemas.openxmlformats.org/officeDocument/2006/relationships/hyperlink" Target="https://www.youtube.com/redirect?event=video_description&amp;redir_token=QUFFLUhqbUhfSE5rV0ZXTG54b3FsRzVFQVVJV3NIZmxsZ3xBQ3Jtc0tsdkItYnA2YlNqdktoNnFjNnZObHdsOFpPUWFzbGJMQ0lFUno0bDN2ZzlMcVJKOEt5ejhPdU1YZUo4YXFQMWxwRGFTRV9hdHJZZlBnbHhld3VBaTJhcXlUUmNEX0gzdEJobnRTcjRrMUxFWENFS05PTQ&amp;q=https://amzn.to/3vpGW2z&amp;v=Zn8MMA2-Opw" TargetMode="External"/><Relationship Id="rId5" Type="http://schemas.openxmlformats.org/officeDocument/2006/relationships/hyperlink" Target="https://amzn.to/2GJoU4Z" TargetMode="External"/><Relationship Id="rId4" Type="http://schemas.openxmlformats.org/officeDocument/2006/relationships/hyperlink" Target="https://amzn.to/2BUKY8B"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p:txBody>
          <a:bodyPr/>
          <a:lstStyle/>
          <a:p>
            <a:fld id="{48F63A3B-78C7-47BE-AE5E-E10140E04643}" type="slidenum">
              <a:rPr lang="en-US" smtClean="0"/>
              <a:pPr/>
              <a:t>1</a:t>
            </a:fld>
            <a:endParaRPr lang="en-US"/>
          </a:p>
        </p:txBody>
      </p:sp>
      <p:pic>
        <p:nvPicPr>
          <p:cNvPr id="8" name="Picture 7">
            <a:extLst>
              <a:ext uri="{FF2B5EF4-FFF2-40B4-BE49-F238E27FC236}">
                <a16:creationId xmlns:a16="http://schemas.microsoft.com/office/drawing/2014/main" id="{AB8B4A1D-0015-0C90-97D2-50B020F68A68}"/>
              </a:ext>
            </a:extLst>
          </p:cNvPr>
          <p:cNvPicPr>
            <a:picLocks noChangeAspect="1"/>
          </p:cNvPicPr>
          <p:nvPr/>
        </p:nvPicPr>
        <p:blipFill>
          <a:blip r:embed="rId3"/>
          <a:stretch>
            <a:fillRect/>
          </a:stretch>
        </p:blipFill>
        <p:spPr>
          <a:xfrm>
            <a:off x="41563" y="114191"/>
            <a:ext cx="12108873" cy="1696573"/>
          </a:xfrm>
          <a:prstGeom prst="rect">
            <a:avLst/>
          </a:prstGeom>
          <a:solidFill>
            <a:schemeClr val="bg2">
              <a:lumMod val="90000"/>
            </a:scheme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a:extLst>
              <a:ext uri="{FF2B5EF4-FFF2-40B4-BE49-F238E27FC236}">
                <a16:creationId xmlns:a16="http://schemas.microsoft.com/office/drawing/2014/main" id="{B4C3171C-2C23-3B64-006F-D5431D2AB66E}"/>
              </a:ext>
            </a:extLst>
          </p:cNvPr>
          <p:cNvSpPr txBox="1"/>
          <p:nvPr/>
        </p:nvSpPr>
        <p:spPr>
          <a:xfrm>
            <a:off x="5634182" y="2974109"/>
            <a:ext cx="914400" cy="914400"/>
          </a:xfrm>
          <a:prstGeom prst="rect">
            <a:avLst/>
          </a:prstGeom>
          <a:noFill/>
        </p:spPr>
        <p:txBody>
          <a:bodyPr wrap="square" rtlCol="0">
            <a:spAutoFit/>
          </a:bodyPr>
          <a:lstStyle/>
          <a:p>
            <a:endParaRPr lang="en-IN"/>
          </a:p>
        </p:txBody>
      </p:sp>
      <p:sp>
        <p:nvSpPr>
          <p:cNvPr id="10" name="TextBox 9">
            <a:extLst>
              <a:ext uri="{FF2B5EF4-FFF2-40B4-BE49-F238E27FC236}">
                <a16:creationId xmlns:a16="http://schemas.microsoft.com/office/drawing/2014/main" id="{9F14080C-1D6A-8788-EF81-A44742CC2911}"/>
              </a:ext>
            </a:extLst>
          </p:cNvPr>
          <p:cNvSpPr txBox="1"/>
          <p:nvPr/>
        </p:nvSpPr>
        <p:spPr>
          <a:xfrm>
            <a:off x="1394691" y="2153772"/>
            <a:ext cx="9698182" cy="914400"/>
          </a:xfrm>
          <a:prstGeom prst="rect">
            <a:avLst/>
          </a:prstGeom>
          <a:noFill/>
        </p:spPr>
        <p:txBody>
          <a:bodyPr wrap="square" rtlCol="0">
            <a:spAutoFit/>
          </a:bodyPr>
          <a:lstStyle/>
          <a:p>
            <a:endParaRPr lang="en-IN"/>
          </a:p>
        </p:txBody>
      </p:sp>
      <p:sp>
        <p:nvSpPr>
          <p:cNvPr id="13" name="TextBox 12">
            <a:extLst>
              <a:ext uri="{FF2B5EF4-FFF2-40B4-BE49-F238E27FC236}">
                <a16:creationId xmlns:a16="http://schemas.microsoft.com/office/drawing/2014/main" id="{58B3DD5C-5309-F953-6B4F-1ADDAC7DF363}"/>
              </a:ext>
            </a:extLst>
          </p:cNvPr>
          <p:cNvSpPr txBox="1"/>
          <p:nvPr/>
        </p:nvSpPr>
        <p:spPr>
          <a:xfrm>
            <a:off x="448409" y="2241694"/>
            <a:ext cx="12086492" cy="1846659"/>
          </a:xfrm>
          <a:prstGeom prst="rect">
            <a:avLst/>
          </a:prstGeom>
          <a:noFill/>
        </p:spPr>
        <p:txBody>
          <a:bodyPr wrap="square" rtlCol="0">
            <a:spAutoFit/>
          </a:bodyPr>
          <a:lstStyle/>
          <a:p>
            <a:r>
              <a:rPr lang="en-IN" sz="5400" b="1" u="sng">
                <a:latin typeface="Algerian" panose="04020705040A02060702" pitchFamily="82" charset="0"/>
              </a:rPr>
              <a:t>SKILL ENHANCEMENT COURSE - IOT</a:t>
            </a:r>
          </a:p>
          <a:p>
            <a:endParaRPr lang="en-IN" sz="6000"/>
          </a:p>
        </p:txBody>
      </p:sp>
      <p:sp>
        <p:nvSpPr>
          <p:cNvPr id="16" name="TextBox 15">
            <a:extLst>
              <a:ext uri="{FF2B5EF4-FFF2-40B4-BE49-F238E27FC236}">
                <a16:creationId xmlns:a16="http://schemas.microsoft.com/office/drawing/2014/main" id="{2C8CBBC3-295B-E2B5-72E9-0C5CB76A89B5}"/>
              </a:ext>
            </a:extLst>
          </p:cNvPr>
          <p:cNvSpPr txBox="1"/>
          <p:nvPr/>
        </p:nvSpPr>
        <p:spPr>
          <a:xfrm>
            <a:off x="754805" y="3257014"/>
            <a:ext cx="10071503" cy="3600986"/>
          </a:xfrm>
          <a:prstGeom prst="rect">
            <a:avLst/>
          </a:prstGeom>
          <a:noFill/>
        </p:spPr>
        <p:txBody>
          <a:bodyPr wrap="square" rtlCol="0">
            <a:spAutoFit/>
          </a:bodyPr>
          <a:lstStyle/>
          <a:p>
            <a:r>
              <a:rPr lang="en-IN" sz="4000" b="1" dirty="0">
                <a:solidFill>
                  <a:schemeClr val="accent6">
                    <a:lumMod val="75000"/>
                  </a:schemeClr>
                </a:solidFill>
                <a:latin typeface="Bell MT" panose="02020503060305020303" pitchFamily="18" charset="0"/>
              </a:rPr>
              <a:t>            IOT Automatic Street Light</a:t>
            </a:r>
          </a:p>
          <a:p>
            <a:r>
              <a:rPr lang="en-US" sz="4000" dirty="0">
                <a:solidFill>
                  <a:schemeClr val="accent6">
                    <a:lumMod val="75000"/>
                  </a:schemeClr>
                </a:solidFill>
                <a:latin typeface="Bell MT" panose="02020503060305020303" pitchFamily="18" charset="0"/>
              </a:rPr>
              <a:t> </a:t>
            </a:r>
          </a:p>
          <a:p>
            <a:r>
              <a:rPr lang="en-US" sz="2000" b="1" dirty="0">
                <a:solidFill>
                  <a:schemeClr val="accent6">
                    <a:lumMod val="75000"/>
                  </a:schemeClr>
                </a:solidFill>
                <a:latin typeface="Bell MT" panose="02020503060305020303" pitchFamily="18" charset="0"/>
              </a:rPr>
              <a:t>Presented by                                                                          </a:t>
            </a:r>
          </a:p>
          <a:p>
            <a:r>
              <a:rPr lang="en-IN" sz="1600" dirty="0">
                <a:solidFill>
                  <a:schemeClr val="accent6">
                    <a:lumMod val="75000"/>
                  </a:schemeClr>
                </a:solidFill>
                <a:latin typeface="Bell MT" panose="02020503060305020303" pitchFamily="18" charset="0"/>
              </a:rPr>
              <a:t>Ch.</a:t>
            </a:r>
            <a:r>
              <a:rPr lang="en-US" sz="1600" dirty="0">
                <a:solidFill>
                  <a:schemeClr val="accent6">
                    <a:lumMod val="75000"/>
                  </a:schemeClr>
                </a:solidFill>
                <a:latin typeface="Bell MT" panose="02020503060305020303" pitchFamily="18" charset="0"/>
              </a:rPr>
              <a:t>Narender </a:t>
            </a:r>
            <a:r>
              <a:rPr lang="en-IN" sz="1600" dirty="0">
                <a:solidFill>
                  <a:schemeClr val="accent6">
                    <a:lumMod val="75000"/>
                  </a:schemeClr>
                </a:solidFill>
                <a:latin typeface="Bell MT" panose="02020503060305020303" pitchFamily="18" charset="0"/>
              </a:rPr>
              <a:t>160724748103</a:t>
            </a:r>
          </a:p>
          <a:p>
            <a:r>
              <a:rPr lang="en-IN" sz="1600" dirty="0">
                <a:solidFill>
                  <a:schemeClr val="accent6">
                    <a:lumMod val="75000"/>
                  </a:schemeClr>
                </a:solidFill>
                <a:latin typeface="Bell MT" panose="02020503060305020303" pitchFamily="18" charset="0"/>
              </a:rPr>
              <a:t>Sufiya Maheen 160724748110</a:t>
            </a:r>
          </a:p>
          <a:p>
            <a:r>
              <a:rPr lang="en-IN" sz="1600" dirty="0" err="1">
                <a:solidFill>
                  <a:schemeClr val="accent6">
                    <a:lumMod val="75000"/>
                  </a:schemeClr>
                </a:solidFill>
                <a:latin typeface="Bell MT" panose="02020503060305020303" pitchFamily="18" charset="0"/>
              </a:rPr>
              <a:t>G.Vinodhini</a:t>
            </a:r>
            <a:r>
              <a:rPr lang="en-IN" sz="1600" dirty="0">
                <a:solidFill>
                  <a:schemeClr val="accent6">
                    <a:lumMod val="75000"/>
                  </a:schemeClr>
                </a:solidFill>
                <a:latin typeface="Bell MT" panose="02020503060305020303" pitchFamily="18" charset="0"/>
              </a:rPr>
              <a:t> 160724748127</a:t>
            </a:r>
          </a:p>
          <a:p>
            <a:endParaRPr lang="en-IN" sz="1600" dirty="0">
              <a:solidFill>
                <a:schemeClr val="accent6">
                  <a:lumMod val="75000"/>
                </a:schemeClr>
              </a:solidFill>
              <a:latin typeface="Bell MT" panose="02020503060305020303" pitchFamily="18" charset="0"/>
            </a:endParaRPr>
          </a:p>
          <a:p>
            <a:r>
              <a:rPr lang="en-US" sz="1600" dirty="0">
                <a:solidFill>
                  <a:schemeClr val="accent6">
                    <a:lumMod val="75000"/>
                  </a:schemeClr>
                </a:solidFill>
                <a:latin typeface="Bell MT" panose="02020503060305020303" pitchFamily="18" charset="0"/>
              </a:rPr>
              <a:t>                                 </a:t>
            </a:r>
          </a:p>
          <a:p>
            <a:r>
              <a:rPr lang="en-US" sz="1600" dirty="0">
                <a:solidFill>
                  <a:schemeClr val="accent6">
                    <a:lumMod val="75000"/>
                  </a:schemeClr>
                </a:solidFill>
                <a:latin typeface="Bell MT" panose="02020503060305020303" pitchFamily="18" charset="0"/>
              </a:rPr>
              <a:t>Department of Computer Science</a:t>
            </a:r>
          </a:p>
          <a:p>
            <a:r>
              <a:rPr lang="en-US" sz="1600" dirty="0">
                <a:solidFill>
                  <a:schemeClr val="accent6">
                    <a:lumMod val="75000"/>
                  </a:schemeClr>
                </a:solidFill>
                <a:latin typeface="Bell MT" panose="02020503060305020303" pitchFamily="18" charset="0"/>
              </a:rPr>
              <a:t>(Artificial Intelligence and Machine Learning)</a:t>
            </a:r>
            <a:endParaRPr lang="en-IN" sz="1600" dirty="0">
              <a:solidFill>
                <a:schemeClr val="accent6">
                  <a:lumMod val="75000"/>
                </a:schemeClr>
              </a:solidFill>
              <a:latin typeface="Bell MT" panose="02020503060305020303" pitchFamily="18" charset="0"/>
            </a:endParaRPr>
          </a:p>
          <a:p>
            <a:r>
              <a:rPr lang="en-US" sz="1600" dirty="0">
                <a:solidFill>
                  <a:schemeClr val="accent6">
                    <a:lumMod val="75000"/>
                  </a:schemeClr>
                </a:solidFill>
                <a:latin typeface="Bell MT" panose="02020503060305020303" pitchFamily="18" charset="0"/>
              </a:rPr>
              <a:t>  </a:t>
            </a:r>
            <a:endParaRPr lang="en-IN" sz="1600" dirty="0">
              <a:solidFill>
                <a:schemeClr val="accent6">
                  <a:lumMod val="75000"/>
                </a:schemeClr>
              </a:solidFill>
              <a:latin typeface="Bell MT" panose="02020503060305020303" pitchFamily="18" charset="0"/>
            </a:endParaRPr>
          </a:p>
        </p:txBody>
      </p:sp>
      <p:sp>
        <p:nvSpPr>
          <p:cNvPr id="4" name="TextBox 3"/>
          <p:cNvSpPr txBox="1"/>
          <p:nvPr/>
        </p:nvSpPr>
        <p:spPr>
          <a:xfrm>
            <a:off x="8133997" y="4158486"/>
            <a:ext cx="3930161" cy="2585323"/>
          </a:xfrm>
          <a:prstGeom prst="rect">
            <a:avLst/>
          </a:prstGeom>
          <a:noFill/>
        </p:spPr>
        <p:txBody>
          <a:bodyPr wrap="square" rtlCol="0">
            <a:spAutoFit/>
          </a:bodyPr>
          <a:lstStyle/>
          <a:p>
            <a:r>
              <a:rPr lang="en-US" b="1" dirty="0">
                <a:solidFill>
                  <a:schemeClr val="accent6">
                    <a:lumMod val="75000"/>
                  </a:schemeClr>
                </a:solidFill>
                <a:latin typeface="Bell MT" panose="02020503060305020303" pitchFamily="18" charset="0"/>
              </a:rPr>
              <a:t>Under Guidance of</a:t>
            </a:r>
          </a:p>
          <a:p>
            <a:endParaRPr lang="en-US" b="1" dirty="0">
              <a:solidFill>
                <a:schemeClr val="accent6">
                  <a:lumMod val="75000"/>
                </a:schemeClr>
              </a:solidFill>
              <a:latin typeface="Bell MT" panose="02020503060305020303" pitchFamily="18" charset="0"/>
            </a:endParaRPr>
          </a:p>
          <a:p>
            <a:endParaRPr lang="en-US" b="1" dirty="0">
              <a:solidFill>
                <a:schemeClr val="accent6">
                  <a:lumMod val="75000"/>
                </a:schemeClr>
              </a:solidFill>
              <a:latin typeface="Bell MT" panose="02020503060305020303" pitchFamily="18" charset="0"/>
            </a:endParaRPr>
          </a:p>
          <a:p>
            <a:r>
              <a:rPr lang="en-IN" dirty="0">
                <a:solidFill>
                  <a:schemeClr val="accent6">
                    <a:lumMod val="75000"/>
                  </a:schemeClr>
                </a:solidFill>
                <a:latin typeface="Bell MT" panose="02020503060305020303" pitchFamily="18" charset="0"/>
              </a:rPr>
              <a:t>-</a:t>
            </a:r>
            <a:r>
              <a:rPr lang="en-IN" dirty="0" err="1">
                <a:solidFill>
                  <a:schemeClr val="accent6">
                    <a:lumMod val="75000"/>
                  </a:schemeClr>
                </a:solidFill>
                <a:latin typeface="Bell MT" panose="02020503060305020303" pitchFamily="18" charset="0"/>
              </a:rPr>
              <a:t>Mr.Mujthaba</a:t>
            </a:r>
            <a:r>
              <a:rPr lang="en-IN" dirty="0">
                <a:solidFill>
                  <a:schemeClr val="accent6">
                    <a:lumMod val="75000"/>
                  </a:schemeClr>
                </a:solidFill>
                <a:latin typeface="Bell MT" panose="02020503060305020303" pitchFamily="18" charset="0"/>
              </a:rPr>
              <a:t> Gulam </a:t>
            </a:r>
            <a:r>
              <a:rPr lang="en-IN" dirty="0" err="1">
                <a:solidFill>
                  <a:schemeClr val="accent6">
                    <a:lumMod val="75000"/>
                  </a:schemeClr>
                </a:solidFill>
                <a:latin typeface="Bell MT" panose="02020503060305020303" pitchFamily="18" charset="0"/>
              </a:rPr>
              <a:t>Muqeeth</a:t>
            </a:r>
            <a:r>
              <a:rPr lang="en-IN" dirty="0">
                <a:solidFill>
                  <a:schemeClr val="accent6">
                    <a:lumMod val="75000"/>
                  </a:schemeClr>
                </a:solidFill>
                <a:latin typeface="Bell MT" panose="02020503060305020303" pitchFamily="18" charset="0"/>
              </a:rPr>
              <a:t> </a:t>
            </a:r>
          </a:p>
          <a:p>
            <a:r>
              <a:rPr lang="en-IN" dirty="0">
                <a:solidFill>
                  <a:schemeClr val="accent6">
                    <a:lumMod val="75000"/>
                  </a:schemeClr>
                </a:solidFill>
                <a:latin typeface="Bell MT" panose="02020503060305020303" pitchFamily="18" charset="0"/>
              </a:rPr>
              <a:t>Associate Professor</a:t>
            </a:r>
          </a:p>
          <a:p>
            <a:r>
              <a:rPr lang="en-IN" dirty="0">
                <a:solidFill>
                  <a:schemeClr val="accent6">
                    <a:lumMod val="75000"/>
                  </a:schemeClr>
                </a:solidFill>
                <a:latin typeface="Bell MT" panose="02020503060305020303" pitchFamily="18" charset="0"/>
              </a:rPr>
              <a:t>Dept of </a:t>
            </a:r>
            <a:r>
              <a:rPr lang="en-US" dirty="0">
                <a:solidFill>
                  <a:schemeClr val="accent6">
                    <a:lumMod val="75000"/>
                  </a:schemeClr>
                </a:solidFill>
                <a:latin typeface="Bell MT" panose="02020503060305020303" pitchFamily="18" charset="0"/>
              </a:rPr>
              <a:t>Computer Science Engineering </a:t>
            </a:r>
          </a:p>
          <a:p>
            <a:endParaRPr lang="en-US" dirty="0">
              <a:solidFill>
                <a:schemeClr val="accent6">
                  <a:lumMod val="75000"/>
                </a:schemeClr>
              </a:solidFill>
              <a:latin typeface="Bell MT" panose="02020503060305020303" pitchFamily="18" charset="0"/>
            </a:endParaRPr>
          </a:p>
          <a:p>
            <a:r>
              <a:rPr lang="en-IN" dirty="0">
                <a:solidFill>
                  <a:schemeClr val="accent6">
                    <a:lumMod val="75000"/>
                  </a:schemeClr>
                </a:solidFill>
                <a:latin typeface="Bell MT" panose="02020503060305020303" pitchFamily="18" charset="0"/>
              </a:rPr>
              <a:t>-</a:t>
            </a:r>
            <a:r>
              <a:rPr lang="en-IN" dirty="0" err="1">
                <a:solidFill>
                  <a:schemeClr val="accent6">
                    <a:lumMod val="75000"/>
                  </a:schemeClr>
                </a:solidFill>
                <a:latin typeface="Bell MT" panose="02020503060305020303" pitchFamily="18" charset="0"/>
              </a:rPr>
              <a:t>Mr.K</a:t>
            </a:r>
            <a:r>
              <a:rPr lang="en-IN" dirty="0">
                <a:solidFill>
                  <a:schemeClr val="accent6">
                    <a:lumMod val="75000"/>
                  </a:schemeClr>
                </a:solidFill>
                <a:latin typeface="Bell MT" panose="02020503060305020303" pitchFamily="18" charset="0"/>
              </a:rPr>
              <a:t>.</a:t>
            </a:r>
            <a:r>
              <a:rPr lang="en-US" dirty="0">
                <a:solidFill>
                  <a:schemeClr val="accent6">
                    <a:lumMod val="75000"/>
                  </a:schemeClr>
                </a:solidFill>
                <a:latin typeface="Bell MT" panose="02020503060305020303" pitchFamily="18" charset="0"/>
              </a:rPr>
              <a:t>Murlidhar </a:t>
            </a:r>
          </a:p>
          <a:p>
            <a:r>
              <a:rPr lang="en-US" dirty="0">
                <a:solidFill>
                  <a:schemeClr val="accent6">
                    <a:lumMod val="75000"/>
                  </a:schemeClr>
                </a:solidFill>
                <a:latin typeface="Bell MT" panose="02020503060305020303" pitchFamily="18" charset="0"/>
              </a:rPr>
              <a:t>Assistant professor </a:t>
            </a:r>
            <a:endParaRPr lang="en-IN" dirty="0">
              <a:solidFill>
                <a:schemeClr val="accent6">
                  <a:lumMod val="75000"/>
                </a:schemeClr>
              </a:solidFill>
              <a:latin typeface="Bell MT" panose="02020503060305020303" pitchFamily="18" charset="0"/>
            </a:endParaRPr>
          </a:p>
        </p:txBody>
      </p:sp>
    </p:spTree>
    <p:extLst>
      <p:ext uri="{BB962C8B-B14F-4D97-AF65-F5344CB8AC3E}">
        <p14:creationId xmlns:p14="http://schemas.microsoft.com/office/powerpoint/2010/main" val="39699961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430822" y="423452"/>
            <a:ext cx="11298115" cy="794328"/>
          </a:xfrm>
        </p:spPr>
        <p:txBody>
          <a:bodyPr/>
          <a:lstStyle/>
          <a:p>
            <a:r>
              <a:rPr lang="en-IN" b="0" dirty="0">
                <a:latin typeface="Baskerville Old Face" panose="02020602080505020303" pitchFamily="18" charset="0"/>
              </a:rPr>
              <a:t> </a:t>
            </a:r>
            <a:r>
              <a:rPr lang="en-IN" dirty="0">
                <a:latin typeface="Bell MT" panose="02020503060305020303" pitchFamily="18" charset="0"/>
              </a:rPr>
              <a:t>abstract</a:t>
            </a:r>
            <a:endParaRPr lang="en-US" dirty="0">
              <a:latin typeface="Bell MT" panose="02020503060305020303" pitchFamily="18" charset="0"/>
            </a:endParaRPr>
          </a:p>
        </p:txBody>
      </p:sp>
      <p:sp>
        <p:nvSpPr>
          <p:cNvPr id="8" name="TextBox 7">
            <a:extLst>
              <a:ext uri="{FF2B5EF4-FFF2-40B4-BE49-F238E27FC236}">
                <a16:creationId xmlns:a16="http://schemas.microsoft.com/office/drawing/2014/main" id="{AAE1896A-3185-F9B9-A5C7-61658636673B}"/>
              </a:ext>
            </a:extLst>
          </p:cNvPr>
          <p:cNvSpPr txBox="1"/>
          <p:nvPr/>
        </p:nvSpPr>
        <p:spPr>
          <a:xfrm>
            <a:off x="1046284" y="1526650"/>
            <a:ext cx="10383715" cy="2554545"/>
          </a:xfrm>
          <a:prstGeom prst="rect">
            <a:avLst/>
          </a:prstGeom>
          <a:noFill/>
        </p:spPr>
        <p:txBody>
          <a:bodyPr wrap="square" rtlCol="0">
            <a:spAutoFit/>
          </a:bodyPr>
          <a:lstStyle/>
          <a:p>
            <a:r>
              <a:rPr lang="en-US" sz="2000" dirty="0">
                <a:latin typeface="Book Antiqua" panose="02040602050305030304" pitchFamily="18" charset="0"/>
                <a:cs typeface="FreesiaUPC" panose="020B0604020202020204" pitchFamily="34" charset="-34"/>
              </a:rPr>
              <a:t>The project is about IOT-based automatic street light. The system turns light on at night and off in the day. sensors detect vehicles and peoples and adjust brightness accordingly. It uses IOT components like LDR ,IR sensors and micro controllers for automation. this helps save electricity, reduce human efforts, and improve road safety.</a:t>
            </a:r>
          </a:p>
          <a:p>
            <a:endParaRPr lang="en-US" sz="2000" dirty="0">
              <a:latin typeface="Book Antiqua" panose="02040602050305030304" pitchFamily="18" charset="0"/>
              <a:cs typeface="FreesiaUPC" panose="020B0604020202020204" pitchFamily="34" charset="-34"/>
            </a:endParaRPr>
          </a:p>
          <a:p>
            <a:r>
              <a:rPr lang="en-US" sz="2000" dirty="0">
                <a:latin typeface="Book Antiqua" panose="02040602050305030304" pitchFamily="18" charset="0"/>
                <a:cs typeface="FreesiaUPC" panose="020B0604020202020204" pitchFamily="34" charset="-34"/>
              </a:rPr>
              <a:t>~ Useful in highways, smart cities, rural areas with limited power, campuses and residential streets.</a:t>
            </a:r>
          </a:p>
          <a:p>
            <a:endParaRPr lang="en-US" sz="2000" dirty="0">
              <a:latin typeface="Book Antiqua" panose="02040602050305030304" pitchFamily="18" charset="0"/>
              <a:cs typeface="FreesiaUPC" panose="020B0604020202020204" pitchFamily="34" charset="-34"/>
            </a:endParaRPr>
          </a:p>
        </p:txBody>
      </p:sp>
      <p:pic>
        <p:nvPicPr>
          <p:cNvPr id="1026" name="Picture 2" descr="IoT Based Automatic Street Lighting ...">
            <a:extLst>
              <a:ext uri="{FF2B5EF4-FFF2-40B4-BE49-F238E27FC236}">
                <a16:creationId xmlns:a16="http://schemas.microsoft.com/office/drawing/2014/main" id="{C63E00F0-4C25-5A9B-EB53-784F3A65F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2729" y="3635339"/>
            <a:ext cx="5410824" cy="3030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213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42B17-DA8C-B305-1F90-E24AA06D5CF6}"/>
              </a:ext>
            </a:extLst>
          </p:cNvPr>
          <p:cNvSpPr>
            <a:spLocks noGrp="1"/>
          </p:cNvSpPr>
          <p:nvPr>
            <p:ph type="title"/>
          </p:nvPr>
        </p:nvSpPr>
        <p:spPr>
          <a:xfrm>
            <a:off x="840186" y="687819"/>
            <a:ext cx="10511627" cy="1012785"/>
          </a:xfrm>
        </p:spPr>
        <p:txBody>
          <a:bodyPr/>
          <a:lstStyle/>
          <a:p>
            <a:r>
              <a:rPr lang="en-US" sz="4800">
                <a:latin typeface="Bell MT" panose="02020503060305020303" pitchFamily="18" charset="0"/>
              </a:rPr>
              <a:t>Introduction </a:t>
            </a:r>
            <a:endParaRPr lang="en-IN" sz="4800">
              <a:latin typeface="Bell MT" panose="02020503060305020303" pitchFamily="18" charset="0"/>
            </a:endParaRPr>
          </a:p>
        </p:txBody>
      </p:sp>
      <p:sp>
        <p:nvSpPr>
          <p:cNvPr id="4" name="Rectangle 1">
            <a:extLst>
              <a:ext uri="{FF2B5EF4-FFF2-40B4-BE49-F238E27FC236}">
                <a16:creationId xmlns:a16="http://schemas.microsoft.com/office/drawing/2014/main" id="{12981AB2-4432-1179-86EC-C61800B5FB1E}"/>
              </a:ext>
            </a:extLst>
          </p:cNvPr>
          <p:cNvSpPr>
            <a:spLocks noGrp="1" noChangeArrowheads="1"/>
          </p:cNvSpPr>
          <p:nvPr>
            <p:ph sz="quarter" idx="4"/>
          </p:nvPr>
        </p:nvSpPr>
        <p:spPr bwMode="auto">
          <a:xfrm>
            <a:off x="527824" y="1831240"/>
            <a:ext cx="1082398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FontTx/>
              <a:buChar char="•"/>
            </a:pPr>
            <a:r>
              <a:rPr lang="en-US" sz="2000" dirty="0">
                <a:solidFill>
                  <a:schemeClr val="tx1"/>
                </a:solidFill>
                <a:latin typeface="Book Antiqua" panose="02040602050305030304" pitchFamily="18" charset="0"/>
              </a:rPr>
              <a:t>In modern cities, </a:t>
            </a:r>
            <a:r>
              <a:rPr lang="en-US" sz="2000" b="1" dirty="0">
                <a:solidFill>
                  <a:schemeClr val="tx1"/>
                </a:solidFill>
                <a:latin typeface="Book Antiqua" panose="02040602050305030304" pitchFamily="18" charset="0"/>
              </a:rPr>
              <a:t>street lighting</a:t>
            </a:r>
            <a:r>
              <a:rPr lang="en-US" sz="2000" dirty="0">
                <a:solidFill>
                  <a:schemeClr val="tx1"/>
                </a:solidFill>
                <a:latin typeface="Book Antiqua" panose="02040602050305030304" pitchFamily="18" charset="0"/>
              </a:rPr>
              <a:t> plays a major role in ensuring </a:t>
            </a:r>
            <a:r>
              <a:rPr lang="en-US" sz="2000" b="1" dirty="0">
                <a:solidFill>
                  <a:schemeClr val="tx1"/>
                </a:solidFill>
                <a:latin typeface="Book Antiqua" panose="02040602050305030304" pitchFamily="18" charset="0"/>
              </a:rPr>
              <a:t>public safety</a:t>
            </a:r>
            <a:r>
              <a:rPr lang="en-US" sz="2000" dirty="0">
                <a:solidFill>
                  <a:schemeClr val="tx1"/>
                </a:solidFill>
                <a:latin typeface="Book Antiqua" panose="02040602050305030304" pitchFamily="18" charset="0"/>
              </a:rPr>
              <a:t> and </a:t>
            </a:r>
            <a:r>
              <a:rPr lang="en-US" sz="2000" b="1" dirty="0">
                <a:solidFill>
                  <a:schemeClr val="tx1"/>
                </a:solidFill>
                <a:latin typeface="Book Antiqua" panose="02040602050305030304" pitchFamily="18" charset="0"/>
              </a:rPr>
              <a:t>efficient transportation</a:t>
            </a:r>
            <a:r>
              <a:rPr lang="en-US" sz="2000" dirty="0">
                <a:solidFill>
                  <a:schemeClr val="tx1"/>
                </a:solidFill>
                <a:latin typeface="Book Antiqua" panose="02040602050305030304" pitchFamily="18" charset="0"/>
              </a:rPr>
              <a:t> during nighttime</a:t>
            </a:r>
            <a:r>
              <a:rPr lang="en-US" sz="2000" dirty="0">
                <a:latin typeface="Book Antiqua" panose="02040602050305030304" pitchFamily="18" charset="0"/>
              </a:rPr>
              <a:t>.</a:t>
            </a:r>
          </a:p>
          <a:p>
            <a:pPr marL="0" lvl="0" indent="0" eaLnBrk="0" fontAlgn="base" hangingPunct="0">
              <a:spcBef>
                <a:spcPct val="0"/>
              </a:spcBef>
              <a:spcAft>
                <a:spcPct val="0"/>
              </a:spcAft>
              <a:buNone/>
            </a:pPr>
            <a:endParaRPr lang="en-US" sz="2000" dirty="0">
              <a:latin typeface="Book Antiqua" panose="02040602050305030304" pitchFamily="18" charset="0"/>
            </a:endParaRPr>
          </a:p>
          <a:p>
            <a:pPr marL="0" lvl="0"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Book Antiqua" panose="02040602050305030304" pitchFamily="18" charset="0"/>
              </a:rPr>
              <a:t>However, traditional street lighting systems are mostly </a:t>
            </a:r>
            <a:r>
              <a:rPr kumimoji="0" lang="en-US" altLang="en-US" sz="2000" b="1" i="0" u="none" strike="noStrike" cap="none" normalizeH="0" baseline="0" dirty="0">
                <a:ln>
                  <a:noFill/>
                </a:ln>
                <a:solidFill>
                  <a:schemeClr val="tx1"/>
                </a:solidFill>
                <a:effectLst/>
                <a:latin typeface="Book Antiqua" panose="02040602050305030304" pitchFamily="18" charset="0"/>
              </a:rPr>
              <a:t>manually operated</a:t>
            </a:r>
            <a:r>
              <a:rPr kumimoji="0" lang="en-US" altLang="en-US" sz="2000" b="0" i="0" u="none" strike="noStrike" cap="none" normalizeH="0" baseline="0" dirty="0">
                <a:ln>
                  <a:noFill/>
                </a:ln>
                <a:solidFill>
                  <a:schemeClr val="tx1"/>
                </a:solidFill>
                <a:effectLst/>
                <a:latin typeface="Book Antiqua" panose="02040602050305030304" pitchFamily="18" charset="0"/>
              </a:rPr>
              <a:t> or depend on </a:t>
            </a:r>
            <a:r>
              <a:rPr kumimoji="0" lang="en-US" altLang="en-US" sz="2000" b="1" i="0" u="none" strike="noStrike" cap="none" normalizeH="0" baseline="0" dirty="0">
                <a:ln>
                  <a:noFill/>
                </a:ln>
                <a:solidFill>
                  <a:schemeClr val="tx1"/>
                </a:solidFill>
                <a:effectLst/>
                <a:latin typeface="Book Antiqua" panose="02040602050305030304" pitchFamily="18" charset="0"/>
              </a:rPr>
              <a:t>fixed timers</a:t>
            </a:r>
            <a:r>
              <a:rPr kumimoji="0" lang="en-US" altLang="en-US" sz="2000" b="0" i="0" u="none" strike="noStrike" cap="none" normalizeH="0" baseline="0" dirty="0">
                <a:ln>
                  <a:noFill/>
                </a:ln>
                <a:solidFill>
                  <a:schemeClr val="tx1"/>
                </a:solidFill>
                <a:effectLst/>
                <a:latin typeface="Book Antiqua" panose="02040602050305030304" pitchFamily="18" charset="0"/>
              </a:rPr>
              <a:t>.</a:t>
            </a:r>
          </a:p>
          <a:p>
            <a:pPr marL="0" lvl="0" indent="0" eaLnBrk="0" fontAlgn="base" hangingPunct="0">
              <a:spcBef>
                <a:spcPct val="0"/>
              </a:spcBef>
              <a:spcAft>
                <a:spcPct val="0"/>
              </a:spcAft>
              <a:buNone/>
            </a:pPr>
            <a:endParaRPr kumimoji="0" lang="en-US" altLang="en-US" sz="2000" b="0" i="0" u="none" strike="noStrike" cap="none" normalizeH="0" baseline="0" dirty="0">
              <a:ln>
                <a:noFill/>
              </a:ln>
              <a:solidFill>
                <a:schemeClr val="tx1"/>
              </a:solidFill>
              <a:effectLst/>
              <a:latin typeface="Book Antiqua" panose="0204060205030503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sng" strike="noStrike" cap="none" normalizeH="0" baseline="0" dirty="0">
                <a:ln>
                  <a:noFill/>
                </a:ln>
                <a:solidFill>
                  <a:schemeClr val="tx1"/>
                </a:solidFill>
                <a:effectLst/>
                <a:latin typeface="Book Antiqua" panose="02040602050305030304" pitchFamily="18" charset="0"/>
              </a:rPr>
              <a:t>This often leads to problems such as: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sng" strike="noStrike" cap="none" normalizeH="0" baseline="0" dirty="0">
              <a:ln>
                <a:noFill/>
              </a:ln>
              <a:solidFill>
                <a:schemeClr val="tx1"/>
              </a:solidFill>
              <a:effectLst/>
              <a:latin typeface="Book Antiqua" panose="0204060205030503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ook Antiqua" panose="02040602050305030304" pitchFamily="18" charset="0"/>
              </a:rPr>
              <a:t>Lights staying </a:t>
            </a:r>
            <a:r>
              <a:rPr kumimoji="0" lang="en-US" altLang="en-US" sz="2000" b="1" i="0" u="none" strike="noStrike" cap="none" normalizeH="0" baseline="0" dirty="0">
                <a:ln>
                  <a:noFill/>
                </a:ln>
                <a:solidFill>
                  <a:schemeClr val="tx1"/>
                </a:solidFill>
                <a:effectLst/>
                <a:latin typeface="Book Antiqua" panose="02040602050305030304" pitchFamily="18" charset="0"/>
              </a:rPr>
              <a:t>ON during the daytime</a:t>
            </a:r>
            <a:r>
              <a:rPr kumimoji="0" lang="en-US" altLang="en-US" sz="2000" b="0" i="0" u="none" strike="noStrike" cap="none" normalizeH="0" baseline="0" dirty="0">
                <a:ln>
                  <a:noFill/>
                </a:ln>
                <a:solidFill>
                  <a:schemeClr val="tx1"/>
                </a:solidFill>
                <a:effectLst/>
                <a:latin typeface="Book Antiqua" panose="02040602050305030304" pitchFamily="18" charset="0"/>
              </a:rPr>
              <a:t> or in well-lit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ook Antiqua" panose="02040602050305030304" pitchFamily="18" charset="0"/>
              </a:rPr>
              <a:t>Human errors</a:t>
            </a:r>
            <a:r>
              <a:rPr kumimoji="0" lang="en-US" altLang="en-US" sz="2000" b="0" i="0" u="none" strike="noStrike" cap="none" normalizeH="0" baseline="0" dirty="0">
                <a:ln>
                  <a:noFill/>
                </a:ln>
                <a:solidFill>
                  <a:schemeClr val="tx1"/>
                </a:solidFill>
                <a:effectLst/>
                <a:latin typeface="Book Antiqua" panose="02040602050305030304" pitchFamily="18" charset="0"/>
              </a:rPr>
              <a:t> in switching lights ON or OFF.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ook Antiqua" panose="02040602050305030304" pitchFamily="18" charset="0"/>
              </a:rPr>
              <a:t>Wastage of electricity</a:t>
            </a:r>
            <a:r>
              <a:rPr kumimoji="0" lang="en-US" altLang="en-US" sz="2000" b="0" i="0" u="none" strike="noStrike" cap="none" normalizeH="0" baseline="0" dirty="0">
                <a:ln>
                  <a:noFill/>
                </a:ln>
                <a:solidFill>
                  <a:schemeClr val="tx1"/>
                </a:solidFill>
                <a:effectLst/>
                <a:latin typeface="Book Antiqua" panose="02040602050305030304" pitchFamily="18" charset="0"/>
              </a:rPr>
              <a:t> and </a:t>
            </a:r>
            <a:r>
              <a:rPr kumimoji="0" lang="en-US" altLang="en-US" sz="2000" b="1" i="0" u="none" strike="noStrike" cap="none" normalizeH="0" baseline="0" dirty="0">
                <a:ln>
                  <a:noFill/>
                </a:ln>
                <a:solidFill>
                  <a:schemeClr val="tx1"/>
                </a:solidFill>
                <a:effectLst/>
                <a:latin typeface="Book Antiqua" panose="02040602050305030304" pitchFamily="18" charset="0"/>
              </a:rPr>
              <a:t>increased power bills</a:t>
            </a:r>
            <a:r>
              <a:rPr kumimoji="0" lang="en-US" altLang="en-US" sz="2000" b="0" i="0" u="none" strike="noStrike" cap="none" normalizeH="0" baseline="0" dirty="0">
                <a:ln>
                  <a:noFill/>
                </a:ln>
                <a:solidFill>
                  <a:schemeClr val="tx1"/>
                </a:solidFill>
                <a:effectLst/>
                <a:latin typeface="Book Antiqua" panose="0204060205030503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ook Antiqua" panose="02040602050305030304" pitchFamily="18" charset="0"/>
              </a:rPr>
              <a:t>Unnecessary maintenance</a:t>
            </a:r>
            <a:r>
              <a:rPr kumimoji="0" lang="en-US" altLang="en-US" sz="2000" b="0" i="0" u="none" strike="noStrike" cap="none" normalizeH="0" baseline="0" dirty="0">
                <a:ln>
                  <a:noFill/>
                </a:ln>
                <a:solidFill>
                  <a:schemeClr val="tx1"/>
                </a:solidFill>
                <a:effectLst/>
                <a:latin typeface="Book Antiqua" panose="02040602050305030304" pitchFamily="18" charset="0"/>
              </a:rPr>
              <a:t> and reduced system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ook Antiqua" panose="02040602050305030304" pitchFamily="18" charset="0"/>
              </a:rPr>
              <a:t>To overcome these drawbacks, an </a:t>
            </a:r>
            <a:r>
              <a:rPr kumimoji="0" lang="en-US" altLang="en-US" sz="2000" b="1" i="0" u="none" strike="noStrike" cap="none" normalizeH="0" baseline="0" dirty="0">
                <a:ln>
                  <a:noFill/>
                </a:ln>
                <a:solidFill>
                  <a:schemeClr val="tx1"/>
                </a:solidFill>
                <a:effectLst/>
                <a:latin typeface="Book Antiqua" panose="02040602050305030304" pitchFamily="18" charset="0"/>
              </a:rPr>
              <a:t>IoT-based automatic street lighting system</a:t>
            </a:r>
            <a:r>
              <a:rPr kumimoji="0" lang="en-US" altLang="en-US" sz="2000" b="0" i="0" u="none" strike="noStrike" cap="none" normalizeH="0" baseline="0" dirty="0">
                <a:ln>
                  <a:noFill/>
                </a:ln>
                <a:solidFill>
                  <a:schemeClr val="tx1"/>
                </a:solidFill>
                <a:effectLst/>
                <a:latin typeface="Book Antiqua" panose="02040602050305030304" pitchFamily="18" charset="0"/>
              </a:rPr>
              <a:t> is proposed.</a:t>
            </a:r>
          </a:p>
        </p:txBody>
      </p:sp>
    </p:spTree>
    <p:extLst>
      <p:ext uri="{BB962C8B-B14F-4D97-AF65-F5344CB8AC3E}">
        <p14:creationId xmlns:p14="http://schemas.microsoft.com/office/powerpoint/2010/main" val="2952818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9ADC1855-1AED-6EBF-6165-74D57B4309E3}"/>
              </a:ext>
            </a:extLst>
          </p:cNvPr>
          <p:cNvSpPr>
            <a:spLocks noChangeArrowheads="1"/>
          </p:cNvSpPr>
          <p:nvPr/>
        </p:nvSpPr>
        <p:spPr bwMode="auto">
          <a:xfrm>
            <a:off x="349071" y="224709"/>
            <a:ext cx="8455970" cy="326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latin typeface="Bell MT" panose="02020503060305020303" pitchFamily="18" charset="0"/>
              </a:rPr>
              <a:t> </a:t>
            </a:r>
            <a:r>
              <a:rPr lang="en-US" sz="2400" b="1" u="sng" dirty="0">
                <a:latin typeface="Bell MT" panose="02020503060305020303" pitchFamily="18" charset="0"/>
              </a:rPr>
              <a:t>Algorithm:</a:t>
            </a:r>
          </a:p>
          <a:p>
            <a:r>
              <a:rPr lang="en-US" dirty="0"/>
              <a:t>Step 1: Start the system</a:t>
            </a:r>
            <a:r>
              <a:rPr lang="en-US" b="1" dirty="0"/>
              <a:t>.</a:t>
            </a:r>
            <a:endParaRPr lang="en-US" dirty="0"/>
          </a:p>
          <a:p>
            <a:r>
              <a:rPr lang="en-US" dirty="0"/>
              <a:t>Step 2: Initialize all LEDs, LDR sensor, and IR sensors.</a:t>
            </a:r>
          </a:p>
          <a:p>
            <a:r>
              <a:rPr lang="en-US" dirty="0"/>
              <a:t>Step 3: Read the LDR sensor value.</a:t>
            </a:r>
          </a:p>
          <a:p>
            <a:r>
              <a:rPr lang="en-US" dirty="0"/>
              <a:t>Step 4: If light intensity is high (daytime), turn OFF all LEDs.</a:t>
            </a:r>
          </a:p>
          <a:p>
            <a:r>
              <a:rPr lang="en-US" dirty="0"/>
              <a:t>Step 5: Else (nighttime):</a:t>
            </a:r>
          </a:p>
          <a:p>
            <a:pPr marL="742950" lvl="1" indent="-285750">
              <a:buFont typeface="Arial" panose="020B0604020202020204" pitchFamily="34" charset="0"/>
              <a:buChar char="•"/>
            </a:pPr>
            <a:r>
              <a:rPr lang="en-US" dirty="0"/>
              <a:t>Continuously read IR sensors (A1–A5).</a:t>
            </a:r>
          </a:p>
          <a:p>
            <a:pPr marL="742950" lvl="1" indent="-285750">
              <a:buFont typeface="Arial" panose="020B0604020202020204" pitchFamily="34" charset="0"/>
              <a:buChar char="•"/>
            </a:pPr>
            <a:r>
              <a:rPr lang="en-US" dirty="0"/>
              <a:t>If any IR sensor detects motion, turn ON nearby LEDs at full brightness.</a:t>
            </a:r>
          </a:p>
          <a:p>
            <a:pPr marL="742950" lvl="1" indent="-285750">
              <a:buFont typeface="Arial" panose="020B0604020202020204" pitchFamily="34" charset="0"/>
              <a:buChar char="•"/>
            </a:pPr>
            <a:r>
              <a:rPr lang="en-US" dirty="0"/>
              <a:t>If no motion is detected, keep LEDs dim to save energy.</a:t>
            </a:r>
          </a:p>
          <a:p>
            <a:r>
              <a:rPr lang="en-US" dirty="0"/>
              <a:t>Step 6: Repeat the process continuously.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Book Antiqua" panose="02040602050305030304" pitchFamily="18" charset="0"/>
            </a:endParaRPr>
          </a:p>
        </p:txBody>
      </p:sp>
      <p:sp>
        <p:nvSpPr>
          <p:cNvPr id="3" name="TextBox 2">
            <a:extLst>
              <a:ext uri="{FF2B5EF4-FFF2-40B4-BE49-F238E27FC236}">
                <a16:creationId xmlns:a16="http://schemas.microsoft.com/office/drawing/2014/main" id="{37CA54E2-415D-8A1E-15E6-109EAD91496F}"/>
              </a:ext>
            </a:extLst>
          </p:cNvPr>
          <p:cNvSpPr txBox="1"/>
          <p:nvPr/>
        </p:nvSpPr>
        <p:spPr>
          <a:xfrm>
            <a:off x="5427280" y="3813078"/>
            <a:ext cx="6109138" cy="1846659"/>
          </a:xfrm>
          <a:prstGeom prst="rect">
            <a:avLst/>
          </a:prstGeom>
          <a:noFill/>
        </p:spPr>
        <p:txBody>
          <a:bodyPr wrap="square">
            <a:spAutoFit/>
          </a:bodyPr>
          <a:lstStyle/>
          <a:p>
            <a:pPr>
              <a:buNone/>
            </a:pPr>
            <a:r>
              <a:rPr lang="en-US" sz="2400" b="1" u="sng" dirty="0">
                <a:latin typeface="Bell MT" panose="02020503060305020303" pitchFamily="18" charset="0"/>
              </a:rPr>
              <a:t>Output:</a:t>
            </a:r>
          </a:p>
          <a:p>
            <a:pPr>
              <a:buFont typeface="Arial" panose="020B0604020202020204" pitchFamily="34" charset="0"/>
              <a:buChar char="•"/>
            </a:pPr>
            <a:r>
              <a:rPr lang="en-US" dirty="0"/>
              <a:t>During daytime, all street lights remain OFF.</a:t>
            </a:r>
          </a:p>
          <a:p>
            <a:pPr>
              <a:buFont typeface="Arial" panose="020B0604020202020204" pitchFamily="34" charset="0"/>
              <a:buChar char="•"/>
            </a:pPr>
            <a:r>
              <a:rPr lang="en-US" dirty="0"/>
              <a:t>During night, LEDs turn ON automatically.</a:t>
            </a:r>
          </a:p>
          <a:p>
            <a:pPr>
              <a:buFont typeface="Arial" panose="020B0604020202020204" pitchFamily="34" charset="0"/>
              <a:buChar char="•"/>
            </a:pPr>
            <a:r>
              <a:rPr lang="en-US" dirty="0"/>
              <a:t>When a vehicle or person passes, nearby lights increase brightness.</a:t>
            </a:r>
          </a:p>
          <a:p>
            <a:pPr>
              <a:buFont typeface="Arial" panose="020B0604020202020204" pitchFamily="34" charset="0"/>
              <a:buChar char="•"/>
            </a:pPr>
            <a:r>
              <a:rPr lang="en-US" dirty="0"/>
              <a:t>After they pass, lights return to dim mode, saving energy.</a:t>
            </a:r>
          </a:p>
        </p:txBody>
      </p:sp>
    </p:spTree>
    <p:extLst>
      <p:ext uri="{BB962C8B-B14F-4D97-AF65-F5344CB8AC3E}">
        <p14:creationId xmlns:p14="http://schemas.microsoft.com/office/powerpoint/2010/main" val="2435750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08CB285-141E-CAF5-FFFE-280A567E5A84}"/>
              </a:ext>
            </a:extLst>
          </p:cNvPr>
          <p:cNvSpPr/>
          <p:nvPr/>
        </p:nvSpPr>
        <p:spPr>
          <a:xfrm>
            <a:off x="5657178" y="859577"/>
            <a:ext cx="1132913" cy="1366887"/>
          </a:xfrm>
          <a:custGeom>
            <a:avLst/>
            <a:gdLst>
              <a:gd name="connsiteX0" fmla="*/ 256100 w 970961"/>
              <a:gd name="connsiteY0" fmla="*/ 0 h 1536569"/>
              <a:gd name="connsiteX1" fmla="*/ 970961 w 970961"/>
              <a:gd name="connsiteY1" fmla="*/ 0 h 1536569"/>
              <a:gd name="connsiteX2" fmla="*/ 970961 w 970961"/>
              <a:gd name="connsiteY2" fmla="*/ 1536569 h 1536569"/>
              <a:gd name="connsiteX3" fmla="*/ 256100 w 970961"/>
              <a:gd name="connsiteY3" fmla="*/ 1536569 h 1536569"/>
              <a:gd name="connsiteX4" fmla="*/ 0 w 970961"/>
              <a:gd name="connsiteY4" fmla="*/ 1280469 h 1536569"/>
              <a:gd name="connsiteX5" fmla="*/ 0 w 970961"/>
              <a:gd name="connsiteY5" fmla="*/ 256100 h 1536569"/>
              <a:gd name="connsiteX6" fmla="*/ 256100 w 970961"/>
              <a:gd name="connsiteY6" fmla="*/ 0 h 153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961" h="1536569">
                <a:moveTo>
                  <a:pt x="256100" y="0"/>
                </a:moveTo>
                <a:lnTo>
                  <a:pt x="970961" y="0"/>
                </a:lnTo>
                <a:lnTo>
                  <a:pt x="970961" y="1536569"/>
                </a:lnTo>
                <a:lnTo>
                  <a:pt x="256100" y="1536569"/>
                </a:lnTo>
                <a:cubicBezTo>
                  <a:pt x="114660" y="1536569"/>
                  <a:pt x="0" y="1421909"/>
                  <a:pt x="0" y="1280469"/>
                </a:cubicBezTo>
                <a:lnTo>
                  <a:pt x="0" y="256100"/>
                </a:lnTo>
                <a:cubicBezTo>
                  <a:pt x="0" y="114660"/>
                  <a:pt x="114660" y="0"/>
                  <a:pt x="256100" y="0"/>
                </a:cubicBezTo>
                <a:close/>
              </a:path>
            </a:pathLst>
          </a:custGeom>
          <a:solidFill>
            <a:schemeClr val="accent6"/>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Freeform: Shape 8">
            <a:extLst>
              <a:ext uri="{FF2B5EF4-FFF2-40B4-BE49-F238E27FC236}">
                <a16:creationId xmlns:a16="http://schemas.microsoft.com/office/drawing/2014/main" id="{406B2670-6EB3-D9F9-0E4A-CECA9373AFB9}"/>
              </a:ext>
            </a:extLst>
          </p:cNvPr>
          <p:cNvSpPr/>
          <p:nvPr/>
        </p:nvSpPr>
        <p:spPr>
          <a:xfrm>
            <a:off x="5657178" y="2146336"/>
            <a:ext cx="1132913" cy="1366887"/>
          </a:xfrm>
          <a:custGeom>
            <a:avLst/>
            <a:gdLst>
              <a:gd name="connsiteX0" fmla="*/ 256100 w 970961"/>
              <a:gd name="connsiteY0" fmla="*/ 0 h 1536569"/>
              <a:gd name="connsiteX1" fmla="*/ 970961 w 970961"/>
              <a:gd name="connsiteY1" fmla="*/ 0 h 1536569"/>
              <a:gd name="connsiteX2" fmla="*/ 970961 w 970961"/>
              <a:gd name="connsiteY2" fmla="*/ 1536569 h 1536569"/>
              <a:gd name="connsiteX3" fmla="*/ 256100 w 970961"/>
              <a:gd name="connsiteY3" fmla="*/ 1536569 h 1536569"/>
              <a:gd name="connsiteX4" fmla="*/ 0 w 970961"/>
              <a:gd name="connsiteY4" fmla="*/ 1280469 h 1536569"/>
              <a:gd name="connsiteX5" fmla="*/ 0 w 970961"/>
              <a:gd name="connsiteY5" fmla="*/ 256100 h 1536569"/>
              <a:gd name="connsiteX6" fmla="*/ 256100 w 970961"/>
              <a:gd name="connsiteY6" fmla="*/ 0 h 153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961" h="1536569">
                <a:moveTo>
                  <a:pt x="256100" y="0"/>
                </a:moveTo>
                <a:lnTo>
                  <a:pt x="970961" y="0"/>
                </a:lnTo>
                <a:lnTo>
                  <a:pt x="970961" y="1536569"/>
                </a:lnTo>
                <a:lnTo>
                  <a:pt x="256100" y="1536569"/>
                </a:lnTo>
                <a:cubicBezTo>
                  <a:pt x="114660" y="1536569"/>
                  <a:pt x="0" y="1421909"/>
                  <a:pt x="0" y="1280469"/>
                </a:cubicBezTo>
                <a:lnTo>
                  <a:pt x="0" y="256100"/>
                </a:lnTo>
                <a:cubicBezTo>
                  <a:pt x="0" y="114660"/>
                  <a:pt x="114660" y="0"/>
                  <a:pt x="256100" y="0"/>
                </a:cubicBezTo>
                <a:close/>
              </a:path>
            </a:pathLst>
          </a:custGeom>
          <a:solidFill>
            <a:schemeClr val="accent6"/>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 name="Freeform: Shape 9">
            <a:extLst>
              <a:ext uri="{FF2B5EF4-FFF2-40B4-BE49-F238E27FC236}">
                <a16:creationId xmlns:a16="http://schemas.microsoft.com/office/drawing/2014/main" id="{36FE0A57-DC92-D300-E9D4-A4C53A6A76A1}"/>
              </a:ext>
            </a:extLst>
          </p:cNvPr>
          <p:cNvSpPr/>
          <p:nvPr/>
        </p:nvSpPr>
        <p:spPr>
          <a:xfrm>
            <a:off x="5671322" y="4880109"/>
            <a:ext cx="1118768" cy="1366887"/>
          </a:xfrm>
          <a:custGeom>
            <a:avLst/>
            <a:gdLst>
              <a:gd name="connsiteX0" fmla="*/ 256100 w 970961"/>
              <a:gd name="connsiteY0" fmla="*/ 0 h 1536569"/>
              <a:gd name="connsiteX1" fmla="*/ 970961 w 970961"/>
              <a:gd name="connsiteY1" fmla="*/ 0 h 1536569"/>
              <a:gd name="connsiteX2" fmla="*/ 970961 w 970961"/>
              <a:gd name="connsiteY2" fmla="*/ 1536569 h 1536569"/>
              <a:gd name="connsiteX3" fmla="*/ 256100 w 970961"/>
              <a:gd name="connsiteY3" fmla="*/ 1536569 h 1536569"/>
              <a:gd name="connsiteX4" fmla="*/ 0 w 970961"/>
              <a:gd name="connsiteY4" fmla="*/ 1280469 h 1536569"/>
              <a:gd name="connsiteX5" fmla="*/ 0 w 970961"/>
              <a:gd name="connsiteY5" fmla="*/ 256100 h 1536569"/>
              <a:gd name="connsiteX6" fmla="*/ 256100 w 970961"/>
              <a:gd name="connsiteY6" fmla="*/ 0 h 153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961" h="1536569">
                <a:moveTo>
                  <a:pt x="256100" y="0"/>
                </a:moveTo>
                <a:lnTo>
                  <a:pt x="970961" y="0"/>
                </a:lnTo>
                <a:lnTo>
                  <a:pt x="970961" y="1536569"/>
                </a:lnTo>
                <a:lnTo>
                  <a:pt x="256100" y="1536569"/>
                </a:lnTo>
                <a:cubicBezTo>
                  <a:pt x="114660" y="1536569"/>
                  <a:pt x="0" y="1421909"/>
                  <a:pt x="0" y="1280469"/>
                </a:cubicBezTo>
                <a:lnTo>
                  <a:pt x="0" y="256100"/>
                </a:lnTo>
                <a:cubicBezTo>
                  <a:pt x="0" y="114660"/>
                  <a:pt x="114660" y="0"/>
                  <a:pt x="256100" y="0"/>
                </a:cubicBezTo>
                <a:close/>
              </a:path>
            </a:pathLst>
          </a:custGeom>
          <a:solidFill>
            <a:schemeClr val="accent6"/>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2" name="Freeform: Shape 11">
            <a:extLst>
              <a:ext uri="{FF2B5EF4-FFF2-40B4-BE49-F238E27FC236}">
                <a16:creationId xmlns:a16="http://schemas.microsoft.com/office/drawing/2014/main" id="{B4B37FCA-D2AD-082B-ECC8-DC84B12C5C11}"/>
              </a:ext>
            </a:extLst>
          </p:cNvPr>
          <p:cNvSpPr/>
          <p:nvPr/>
        </p:nvSpPr>
        <p:spPr>
          <a:xfrm>
            <a:off x="5657178" y="3513221"/>
            <a:ext cx="1118769" cy="1366887"/>
          </a:xfrm>
          <a:custGeom>
            <a:avLst/>
            <a:gdLst>
              <a:gd name="connsiteX0" fmla="*/ 256100 w 970961"/>
              <a:gd name="connsiteY0" fmla="*/ 0 h 1536569"/>
              <a:gd name="connsiteX1" fmla="*/ 970961 w 970961"/>
              <a:gd name="connsiteY1" fmla="*/ 0 h 1536569"/>
              <a:gd name="connsiteX2" fmla="*/ 970961 w 970961"/>
              <a:gd name="connsiteY2" fmla="*/ 1536569 h 1536569"/>
              <a:gd name="connsiteX3" fmla="*/ 256100 w 970961"/>
              <a:gd name="connsiteY3" fmla="*/ 1536569 h 1536569"/>
              <a:gd name="connsiteX4" fmla="*/ 0 w 970961"/>
              <a:gd name="connsiteY4" fmla="*/ 1280469 h 1536569"/>
              <a:gd name="connsiteX5" fmla="*/ 0 w 970961"/>
              <a:gd name="connsiteY5" fmla="*/ 256100 h 1536569"/>
              <a:gd name="connsiteX6" fmla="*/ 256100 w 970961"/>
              <a:gd name="connsiteY6" fmla="*/ 0 h 153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961" h="1536569">
                <a:moveTo>
                  <a:pt x="256100" y="0"/>
                </a:moveTo>
                <a:lnTo>
                  <a:pt x="970961" y="0"/>
                </a:lnTo>
                <a:lnTo>
                  <a:pt x="970961" y="1536569"/>
                </a:lnTo>
                <a:lnTo>
                  <a:pt x="256100" y="1536569"/>
                </a:lnTo>
                <a:cubicBezTo>
                  <a:pt x="114660" y="1536569"/>
                  <a:pt x="0" y="1421909"/>
                  <a:pt x="0" y="1280469"/>
                </a:cubicBezTo>
                <a:lnTo>
                  <a:pt x="0" y="256100"/>
                </a:lnTo>
                <a:cubicBezTo>
                  <a:pt x="0" y="114660"/>
                  <a:pt x="114660" y="0"/>
                  <a:pt x="256100" y="0"/>
                </a:cubicBezTo>
                <a:close/>
              </a:path>
            </a:pathLst>
          </a:custGeom>
          <a:solidFill>
            <a:schemeClr val="accent6"/>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dirty="0">
                <a:solidFill>
                  <a:schemeClr val="bg1"/>
                </a:solidFill>
              </a:rPr>
              <a:t>Wait for darkness</a:t>
            </a:r>
            <a:endParaRPr lang="en-IN" sz="1200" dirty="0">
              <a:solidFill>
                <a:schemeClr val="bg1"/>
              </a:solidFill>
            </a:endParaRPr>
          </a:p>
        </p:txBody>
      </p:sp>
      <p:sp>
        <p:nvSpPr>
          <p:cNvPr id="13" name="Freeform: Shape 12">
            <a:extLst>
              <a:ext uri="{FF2B5EF4-FFF2-40B4-BE49-F238E27FC236}">
                <a16:creationId xmlns:a16="http://schemas.microsoft.com/office/drawing/2014/main" id="{0F7BC788-F19A-2CE9-3341-EEE2AF46021B}"/>
              </a:ext>
            </a:extLst>
          </p:cNvPr>
          <p:cNvSpPr/>
          <p:nvPr/>
        </p:nvSpPr>
        <p:spPr>
          <a:xfrm flipH="1" flipV="1">
            <a:off x="8868521" y="859574"/>
            <a:ext cx="1167533" cy="1366887"/>
          </a:xfrm>
          <a:custGeom>
            <a:avLst/>
            <a:gdLst>
              <a:gd name="connsiteX0" fmla="*/ 256100 w 970961"/>
              <a:gd name="connsiteY0" fmla="*/ 0 h 1536569"/>
              <a:gd name="connsiteX1" fmla="*/ 970961 w 970961"/>
              <a:gd name="connsiteY1" fmla="*/ 0 h 1536569"/>
              <a:gd name="connsiteX2" fmla="*/ 970961 w 970961"/>
              <a:gd name="connsiteY2" fmla="*/ 1536569 h 1536569"/>
              <a:gd name="connsiteX3" fmla="*/ 256100 w 970961"/>
              <a:gd name="connsiteY3" fmla="*/ 1536569 h 1536569"/>
              <a:gd name="connsiteX4" fmla="*/ 0 w 970961"/>
              <a:gd name="connsiteY4" fmla="*/ 1280469 h 1536569"/>
              <a:gd name="connsiteX5" fmla="*/ 0 w 970961"/>
              <a:gd name="connsiteY5" fmla="*/ 256100 h 1536569"/>
              <a:gd name="connsiteX6" fmla="*/ 256100 w 970961"/>
              <a:gd name="connsiteY6" fmla="*/ 0 h 153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961" h="1536569">
                <a:moveTo>
                  <a:pt x="256100" y="0"/>
                </a:moveTo>
                <a:lnTo>
                  <a:pt x="970961" y="0"/>
                </a:lnTo>
                <a:lnTo>
                  <a:pt x="970961" y="1536569"/>
                </a:lnTo>
                <a:lnTo>
                  <a:pt x="256100" y="1536569"/>
                </a:lnTo>
                <a:cubicBezTo>
                  <a:pt x="114660" y="1536569"/>
                  <a:pt x="0" y="1421909"/>
                  <a:pt x="0" y="1280469"/>
                </a:cubicBezTo>
                <a:lnTo>
                  <a:pt x="0" y="256100"/>
                </a:lnTo>
                <a:cubicBezTo>
                  <a:pt x="0" y="114660"/>
                  <a:pt x="114660" y="0"/>
                  <a:pt x="256100" y="0"/>
                </a:cubicBezTo>
                <a:close/>
              </a:path>
            </a:pathLst>
          </a:custGeom>
          <a:solidFill>
            <a:schemeClr val="accent6"/>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4" name="Freeform: Shape 13">
            <a:extLst>
              <a:ext uri="{FF2B5EF4-FFF2-40B4-BE49-F238E27FC236}">
                <a16:creationId xmlns:a16="http://schemas.microsoft.com/office/drawing/2014/main" id="{34AF1715-C630-04BA-A93A-C2F99C0440C0}"/>
              </a:ext>
            </a:extLst>
          </p:cNvPr>
          <p:cNvSpPr/>
          <p:nvPr/>
        </p:nvSpPr>
        <p:spPr>
          <a:xfrm flipH="1" flipV="1">
            <a:off x="8893900" y="2178672"/>
            <a:ext cx="1142154" cy="1366887"/>
          </a:xfrm>
          <a:custGeom>
            <a:avLst/>
            <a:gdLst>
              <a:gd name="connsiteX0" fmla="*/ 256100 w 970961"/>
              <a:gd name="connsiteY0" fmla="*/ 0 h 1536569"/>
              <a:gd name="connsiteX1" fmla="*/ 970961 w 970961"/>
              <a:gd name="connsiteY1" fmla="*/ 0 h 1536569"/>
              <a:gd name="connsiteX2" fmla="*/ 970961 w 970961"/>
              <a:gd name="connsiteY2" fmla="*/ 1536569 h 1536569"/>
              <a:gd name="connsiteX3" fmla="*/ 256100 w 970961"/>
              <a:gd name="connsiteY3" fmla="*/ 1536569 h 1536569"/>
              <a:gd name="connsiteX4" fmla="*/ 0 w 970961"/>
              <a:gd name="connsiteY4" fmla="*/ 1280469 h 1536569"/>
              <a:gd name="connsiteX5" fmla="*/ 0 w 970961"/>
              <a:gd name="connsiteY5" fmla="*/ 256100 h 1536569"/>
              <a:gd name="connsiteX6" fmla="*/ 256100 w 970961"/>
              <a:gd name="connsiteY6" fmla="*/ 0 h 153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961" h="1536569">
                <a:moveTo>
                  <a:pt x="256100" y="0"/>
                </a:moveTo>
                <a:lnTo>
                  <a:pt x="970961" y="0"/>
                </a:lnTo>
                <a:lnTo>
                  <a:pt x="970961" y="1536569"/>
                </a:lnTo>
                <a:lnTo>
                  <a:pt x="256100" y="1536569"/>
                </a:lnTo>
                <a:cubicBezTo>
                  <a:pt x="114660" y="1536569"/>
                  <a:pt x="0" y="1421909"/>
                  <a:pt x="0" y="1280469"/>
                </a:cubicBezTo>
                <a:lnTo>
                  <a:pt x="0" y="256100"/>
                </a:lnTo>
                <a:cubicBezTo>
                  <a:pt x="0" y="114660"/>
                  <a:pt x="114660" y="0"/>
                  <a:pt x="256100" y="0"/>
                </a:cubicBezTo>
                <a:close/>
              </a:path>
            </a:pathLst>
          </a:custGeom>
          <a:solidFill>
            <a:schemeClr val="accent6"/>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5" name="Freeform: Shape 14">
            <a:extLst>
              <a:ext uri="{FF2B5EF4-FFF2-40B4-BE49-F238E27FC236}">
                <a16:creationId xmlns:a16="http://schemas.microsoft.com/office/drawing/2014/main" id="{C68424CA-059D-B443-9B3C-D473996F4878}"/>
              </a:ext>
            </a:extLst>
          </p:cNvPr>
          <p:cNvSpPr/>
          <p:nvPr/>
        </p:nvSpPr>
        <p:spPr>
          <a:xfrm flipH="1" flipV="1">
            <a:off x="8868523" y="4880106"/>
            <a:ext cx="1142155" cy="1366887"/>
          </a:xfrm>
          <a:custGeom>
            <a:avLst/>
            <a:gdLst>
              <a:gd name="connsiteX0" fmla="*/ 256100 w 970961"/>
              <a:gd name="connsiteY0" fmla="*/ 0 h 1536569"/>
              <a:gd name="connsiteX1" fmla="*/ 970961 w 970961"/>
              <a:gd name="connsiteY1" fmla="*/ 0 h 1536569"/>
              <a:gd name="connsiteX2" fmla="*/ 970961 w 970961"/>
              <a:gd name="connsiteY2" fmla="*/ 1536569 h 1536569"/>
              <a:gd name="connsiteX3" fmla="*/ 256100 w 970961"/>
              <a:gd name="connsiteY3" fmla="*/ 1536569 h 1536569"/>
              <a:gd name="connsiteX4" fmla="*/ 0 w 970961"/>
              <a:gd name="connsiteY4" fmla="*/ 1280469 h 1536569"/>
              <a:gd name="connsiteX5" fmla="*/ 0 w 970961"/>
              <a:gd name="connsiteY5" fmla="*/ 256100 h 1536569"/>
              <a:gd name="connsiteX6" fmla="*/ 256100 w 970961"/>
              <a:gd name="connsiteY6" fmla="*/ 0 h 153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961" h="1536569">
                <a:moveTo>
                  <a:pt x="256100" y="0"/>
                </a:moveTo>
                <a:lnTo>
                  <a:pt x="970961" y="0"/>
                </a:lnTo>
                <a:lnTo>
                  <a:pt x="970961" y="1536569"/>
                </a:lnTo>
                <a:lnTo>
                  <a:pt x="256100" y="1536569"/>
                </a:lnTo>
                <a:cubicBezTo>
                  <a:pt x="114660" y="1536569"/>
                  <a:pt x="0" y="1421909"/>
                  <a:pt x="0" y="1280469"/>
                </a:cubicBezTo>
                <a:lnTo>
                  <a:pt x="0" y="256100"/>
                </a:lnTo>
                <a:cubicBezTo>
                  <a:pt x="0" y="114660"/>
                  <a:pt x="114660" y="0"/>
                  <a:pt x="256100" y="0"/>
                </a:cubicBezTo>
                <a:close/>
              </a:path>
            </a:pathLst>
          </a:custGeom>
          <a:solidFill>
            <a:schemeClr val="accent6"/>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6" name="Freeform: Shape 15">
            <a:extLst>
              <a:ext uri="{FF2B5EF4-FFF2-40B4-BE49-F238E27FC236}">
                <a16:creationId xmlns:a16="http://schemas.microsoft.com/office/drawing/2014/main" id="{27D3989A-78BF-C587-A504-B5094A504A6F}"/>
              </a:ext>
            </a:extLst>
          </p:cNvPr>
          <p:cNvSpPr/>
          <p:nvPr/>
        </p:nvSpPr>
        <p:spPr>
          <a:xfrm flipH="1" flipV="1">
            <a:off x="8868523" y="3513219"/>
            <a:ext cx="1142155" cy="1366887"/>
          </a:xfrm>
          <a:custGeom>
            <a:avLst/>
            <a:gdLst>
              <a:gd name="connsiteX0" fmla="*/ 256100 w 970961"/>
              <a:gd name="connsiteY0" fmla="*/ 0 h 1536569"/>
              <a:gd name="connsiteX1" fmla="*/ 970961 w 970961"/>
              <a:gd name="connsiteY1" fmla="*/ 0 h 1536569"/>
              <a:gd name="connsiteX2" fmla="*/ 970961 w 970961"/>
              <a:gd name="connsiteY2" fmla="*/ 1536569 h 1536569"/>
              <a:gd name="connsiteX3" fmla="*/ 256100 w 970961"/>
              <a:gd name="connsiteY3" fmla="*/ 1536569 h 1536569"/>
              <a:gd name="connsiteX4" fmla="*/ 0 w 970961"/>
              <a:gd name="connsiteY4" fmla="*/ 1280469 h 1536569"/>
              <a:gd name="connsiteX5" fmla="*/ 0 w 970961"/>
              <a:gd name="connsiteY5" fmla="*/ 256100 h 1536569"/>
              <a:gd name="connsiteX6" fmla="*/ 256100 w 970961"/>
              <a:gd name="connsiteY6" fmla="*/ 0 h 153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961" h="1536569">
                <a:moveTo>
                  <a:pt x="256100" y="0"/>
                </a:moveTo>
                <a:lnTo>
                  <a:pt x="970961" y="0"/>
                </a:lnTo>
                <a:lnTo>
                  <a:pt x="970961" y="1536569"/>
                </a:lnTo>
                <a:lnTo>
                  <a:pt x="256100" y="1536569"/>
                </a:lnTo>
                <a:cubicBezTo>
                  <a:pt x="114660" y="1536569"/>
                  <a:pt x="0" y="1421909"/>
                  <a:pt x="0" y="1280469"/>
                </a:cubicBezTo>
                <a:lnTo>
                  <a:pt x="0" y="256100"/>
                </a:lnTo>
                <a:cubicBezTo>
                  <a:pt x="0" y="114660"/>
                  <a:pt x="114660" y="0"/>
                  <a:pt x="256100" y="0"/>
                </a:cubicBezTo>
                <a:close/>
              </a:path>
            </a:pathLst>
          </a:custGeom>
          <a:solidFill>
            <a:schemeClr val="accent6"/>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3" name="Rectangle 32">
            <a:extLst>
              <a:ext uri="{FF2B5EF4-FFF2-40B4-BE49-F238E27FC236}">
                <a16:creationId xmlns:a16="http://schemas.microsoft.com/office/drawing/2014/main" id="{F5187D90-06FE-BBBF-9F51-622C772058FD}"/>
              </a:ext>
            </a:extLst>
          </p:cNvPr>
          <p:cNvSpPr/>
          <p:nvPr/>
        </p:nvSpPr>
        <p:spPr>
          <a:xfrm>
            <a:off x="6790091" y="859578"/>
            <a:ext cx="1118769" cy="2699358"/>
          </a:xfrm>
          <a:custGeom>
            <a:avLst/>
            <a:gdLst>
              <a:gd name="connsiteX0" fmla="*/ 0 w 1118769"/>
              <a:gd name="connsiteY0" fmla="*/ 0 h 1326823"/>
              <a:gd name="connsiteX1" fmla="*/ 1118769 w 1118769"/>
              <a:gd name="connsiteY1" fmla="*/ 0 h 1326823"/>
              <a:gd name="connsiteX2" fmla="*/ 1118769 w 1118769"/>
              <a:gd name="connsiteY2" fmla="*/ 1326823 h 1326823"/>
              <a:gd name="connsiteX3" fmla="*/ 0 w 1118769"/>
              <a:gd name="connsiteY3" fmla="*/ 1326823 h 1326823"/>
              <a:gd name="connsiteX4" fmla="*/ 0 w 1118769"/>
              <a:gd name="connsiteY4" fmla="*/ 0 h 1326823"/>
              <a:gd name="connsiteX0" fmla="*/ 0 w 1118769"/>
              <a:gd name="connsiteY0" fmla="*/ 0 h 2679633"/>
              <a:gd name="connsiteX1" fmla="*/ 1118769 w 1118769"/>
              <a:gd name="connsiteY1" fmla="*/ 0 h 2679633"/>
              <a:gd name="connsiteX2" fmla="*/ 1118769 w 1118769"/>
              <a:gd name="connsiteY2" fmla="*/ 2679633 h 2679633"/>
              <a:gd name="connsiteX3" fmla="*/ 0 w 1118769"/>
              <a:gd name="connsiteY3" fmla="*/ 1326823 h 2679633"/>
              <a:gd name="connsiteX4" fmla="*/ 0 w 1118769"/>
              <a:gd name="connsiteY4" fmla="*/ 0 h 2679633"/>
              <a:gd name="connsiteX0" fmla="*/ 0 w 1118769"/>
              <a:gd name="connsiteY0" fmla="*/ 0 h 2699358"/>
              <a:gd name="connsiteX1" fmla="*/ 1112506 w 1118769"/>
              <a:gd name="connsiteY1" fmla="*/ 2699358 h 2699358"/>
              <a:gd name="connsiteX2" fmla="*/ 1118769 w 1118769"/>
              <a:gd name="connsiteY2" fmla="*/ 2679633 h 2699358"/>
              <a:gd name="connsiteX3" fmla="*/ 0 w 1118769"/>
              <a:gd name="connsiteY3" fmla="*/ 1326823 h 2699358"/>
              <a:gd name="connsiteX4" fmla="*/ 0 w 1118769"/>
              <a:gd name="connsiteY4" fmla="*/ 0 h 2699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769" h="2699358">
                <a:moveTo>
                  <a:pt x="0" y="0"/>
                </a:moveTo>
                <a:lnTo>
                  <a:pt x="1112506" y="2699358"/>
                </a:lnTo>
                <a:lnTo>
                  <a:pt x="1118769" y="2679633"/>
                </a:lnTo>
                <a:lnTo>
                  <a:pt x="0" y="1326823"/>
                </a:lnTo>
                <a:lnTo>
                  <a:pt x="0" y="0"/>
                </a:lnTo>
                <a:close/>
              </a:path>
            </a:pathLst>
          </a:custGeom>
          <a:solidFill>
            <a:schemeClr val="accent3">
              <a:lumMod val="75000"/>
              <a:alpha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EE340912-74D6-6A1E-B988-ED4AEDF8B9FD}"/>
              </a:ext>
            </a:extLst>
          </p:cNvPr>
          <p:cNvSpPr/>
          <p:nvPr/>
        </p:nvSpPr>
        <p:spPr>
          <a:xfrm>
            <a:off x="7871281" y="859577"/>
            <a:ext cx="997242" cy="2704686"/>
          </a:xfrm>
          <a:custGeom>
            <a:avLst/>
            <a:gdLst>
              <a:gd name="connsiteX0" fmla="*/ 0 w 959664"/>
              <a:gd name="connsiteY0" fmla="*/ 0 h 1326823"/>
              <a:gd name="connsiteX1" fmla="*/ 959664 w 959664"/>
              <a:gd name="connsiteY1" fmla="*/ 0 h 1326823"/>
              <a:gd name="connsiteX2" fmla="*/ 959664 w 959664"/>
              <a:gd name="connsiteY2" fmla="*/ 1326823 h 1326823"/>
              <a:gd name="connsiteX3" fmla="*/ 0 w 959664"/>
              <a:gd name="connsiteY3" fmla="*/ 1326823 h 1326823"/>
              <a:gd name="connsiteX4" fmla="*/ 0 w 959664"/>
              <a:gd name="connsiteY4" fmla="*/ 0 h 1326823"/>
              <a:gd name="connsiteX0" fmla="*/ 31315 w 990979"/>
              <a:gd name="connsiteY0" fmla="*/ 0 h 2704686"/>
              <a:gd name="connsiteX1" fmla="*/ 990979 w 990979"/>
              <a:gd name="connsiteY1" fmla="*/ 0 h 2704686"/>
              <a:gd name="connsiteX2" fmla="*/ 990979 w 990979"/>
              <a:gd name="connsiteY2" fmla="*/ 1326823 h 2704686"/>
              <a:gd name="connsiteX3" fmla="*/ 0 w 990979"/>
              <a:gd name="connsiteY3" fmla="*/ 2704686 h 2704686"/>
              <a:gd name="connsiteX4" fmla="*/ 31315 w 990979"/>
              <a:gd name="connsiteY4" fmla="*/ 0 h 2704686"/>
              <a:gd name="connsiteX0" fmla="*/ 0 w 997242"/>
              <a:gd name="connsiteY0" fmla="*/ 2674306 h 2704686"/>
              <a:gd name="connsiteX1" fmla="*/ 997242 w 997242"/>
              <a:gd name="connsiteY1" fmla="*/ 0 h 2704686"/>
              <a:gd name="connsiteX2" fmla="*/ 997242 w 997242"/>
              <a:gd name="connsiteY2" fmla="*/ 1326823 h 2704686"/>
              <a:gd name="connsiteX3" fmla="*/ 6263 w 997242"/>
              <a:gd name="connsiteY3" fmla="*/ 2704686 h 2704686"/>
              <a:gd name="connsiteX4" fmla="*/ 0 w 997242"/>
              <a:gd name="connsiteY4" fmla="*/ 2674306 h 2704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242" h="2704686">
                <a:moveTo>
                  <a:pt x="0" y="2674306"/>
                </a:moveTo>
                <a:lnTo>
                  <a:pt x="997242" y="0"/>
                </a:lnTo>
                <a:lnTo>
                  <a:pt x="997242" y="1326823"/>
                </a:lnTo>
                <a:lnTo>
                  <a:pt x="6263" y="2704686"/>
                </a:lnTo>
                <a:lnTo>
                  <a:pt x="0" y="2674306"/>
                </a:lnTo>
                <a:close/>
              </a:path>
            </a:pathLst>
          </a:custGeom>
          <a:solidFill>
            <a:schemeClr val="accent3">
              <a:lumMod val="75000"/>
              <a:alpha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5A72C9E3-4167-CB14-8736-24AF50284E28}"/>
              </a:ext>
            </a:extLst>
          </p:cNvPr>
          <p:cNvSpPr/>
          <p:nvPr/>
        </p:nvSpPr>
        <p:spPr>
          <a:xfrm>
            <a:off x="6790091" y="2186400"/>
            <a:ext cx="1118769" cy="1326823"/>
          </a:xfrm>
          <a:custGeom>
            <a:avLst/>
            <a:gdLst>
              <a:gd name="connsiteX0" fmla="*/ 0 w 1118769"/>
              <a:gd name="connsiteY0" fmla="*/ 0 h 1326823"/>
              <a:gd name="connsiteX1" fmla="*/ 1118769 w 1118769"/>
              <a:gd name="connsiteY1" fmla="*/ 0 h 1326823"/>
              <a:gd name="connsiteX2" fmla="*/ 1118769 w 1118769"/>
              <a:gd name="connsiteY2" fmla="*/ 1326823 h 1326823"/>
              <a:gd name="connsiteX3" fmla="*/ 0 w 1118769"/>
              <a:gd name="connsiteY3" fmla="*/ 1326823 h 1326823"/>
              <a:gd name="connsiteX4" fmla="*/ 0 w 1118769"/>
              <a:gd name="connsiteY4" fmla="*/ 0 h 1326823"/>
              <a:gd name="connsiteX0" fmla="*/ 0 w 1118769"/>
              <a:gd name="connsiteY0" fmla="*/ 0 h 1326823"/>
              <a:gd name="connsiteX1" fmla="*/ 1106243 w 1118769"/>
              <a:gd name="connsiteY1" fmla="*/ 1321496 h 1326823"/>
              <a:gd name="connsiteX2" fmla="*/ 1118769 w 1118769"/>
              <a:gd name="connsiteY2" fmla="*/ 1326823 h 1326823"/>
              <a:gd name="connsiteX3" fmla="*/ 0 w 1118769"/>
              <a:gd name="connsiteY3" fmla="*/ 1326823 h 1326823"/>
              <a:gd name="connsiteX4" fmla="*/ 0 w 1118769"/>
              <a:gd name="connsiteY4" fmla="*/ 0 h 132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769" h="1326823">
                <a:moveTo>
                  <a:pt x="0" y="0"/>
                </a:moveTo>
                <a:lnTo>
                  <a:pt x="1106243" y="1321496"/>
                </a:lnTo>
                <a:lnTo>
                  <a:pt x="1118769" y="1326823"/>
                </a:lnTo>
                <a:lnTo>
                  <a:pt x="0" y="1326823"/>
                </a:lnTo>
                <a:lnTo>
                  <a:pt x="0" y="0"/>
                </a:lnTo>
                <a:close/>
              </a:path>
            </a:pathLst>
          </a:custGeom>
          <a:solidFill>
            <a:schemeClr val="accent3">
              <a:lumMod val="75000"/>
              <a:alpha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427F4B4E-3221-BDFE-0EF0-554474D78471}"/>
              </a:ext>
            </a:extLst>
          </p:cNvPr>
          <p:cNvSpPr/>
          <p:nvPr/>
        </p:nvSpPr>
        <p:spPr>
          <a:xfrm>
            <a:off x="7903216" y="2186400"/>
            <a:ext cx="976603" cy="1326823"/>
          </a:xfrm>
          <a:custGeom>
            <a:avLst/>
            <a:gdLst>
              <a:gd name="connsiteX0" fmla="*/ 0 w 945523"/>
              <a:gd name="connsiteY0" fmla="*/ 0 h 1326823"/>
              <a:gd name="connsiteX1" fmla="*/ 945523 w 945523"/>
              <a:gd name="connsiteY1" fmla="*/ 0 h 1326823"/>
              <a:gd name="connsiteX2" fmla="*/ 945523 w 945523"/>
              <a:gd name="connsiteY2" fmla="*/ 1326823 h 1326823"/>
              <a:gd name="connsiteX3" fmla="*/ 0 w 945523"/>
              <a:gd name="connsiteY3" fmla="*/ 1326823 h 1326823"/>
              <a:gd name="connsiteX4" fmla="*/ 0 w 945523"/>
              <a:gd name="connsiteY4" fmla="*/ 0 h 1326823"/>
              <a:gd name="connsiteX0" fmla="*/ 0 w 951167"/>
              <a:gd name="connsiteY0" fmla="*/ 1326444 h 1326823"/>
              <a:gd name="connsiteX1" fmla="*/ 951167 w 951167"/>
              <a:gd name="connsiteY1" fmla="*/ 0 h 1326823"/>
              <a:gd name="connsiteX2" fmla="*/ 951167 w 951167"/>
              <a:gd name="connsiteY2" fmla="*/ 1326823 h 1326823"/>
              <a:gd name="connsiteX3" fmla="*/ 5644 w 951167"/>
              <a:gd name="connsiteY3" fmla="*/ 1326823 h 1326823"/>
              <a:gd name="connsiteX4" fmla="*/ 0 w 951167"/>
              <a:gd name="connsiteY4" fmla="*/ 1326444 h 132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167" h="1326823">
                <a:moveTo>
                  <a:pt x="0" y="1326444"/>
                </a:moveTo>
                <a:lnTo>
                  <a:pt x="951167" y="0"/>
                </a:lnTo>
                <a:lnTo>
                  <a:pt x="951167" y="1326823"/>
                </a:lnTo>
                <a:lnTo>
                  <a:pt x="5644" y="1326823"/>
                </a:lnTo>
                <a:lnTo>
                  <a:pt x="0" y="1326444"/>
                </a:lnTo>
                <a:close/>
              </a:path>
            </a:pathLst>
          </a:custGeom>
          <a:solidFill>
            <a:schemeClr val="accent3">
              <a:lumMod val="75000"/>
              <a:alpha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5AF753B5-996A-3703-8569-20E2DF2B2E37}"/>
              </a:ext>
            </a:extLst>
          </p:cNvPr>
          <p:cNvSpPr/>
          <p:nvPr/>
        </p:nvSpPr>
        <p:spPr>
          <a:xfrm>
            <a:off x="6790089" y="3513223"/>
            <a:ext cx="1118769" cy="1406951"/>
          </a:xfrm>
          <a:custGeom>
            <a:avLst/>
            <a:gdLst>
              <a:gd name="connsiteX0" fmla="*/ 0 w 1118769"/>
              <a:gd name="connsiteY0" fmla="*/ 0 h 1406951"/>
              <a:gd name="connsiteX1" fmla="*/ 1118769 w 1118769"/>
              <a:gd name="connsiteY1" fmla="*/ 0 h 1406951"/>
              <a:gd name="connsiteX2" fmla="*/ 1118769 w 1118769"/>
              <a:gd name="connsiteY2" fmla="*/ 1406951 h 1406951"/>
              <a:gd name="connsiteX3" fmla="*/ 0 w 1118769"/>
              <a:gd name="connsiteY3" fmla="*/ 1406951 h 1406951"/>
              <a:gd name="connsiteX4" fmla="*/ 0 w 1118769"/>
              <a:gd name="connsiteY4" fmla="*/ 0 h 1406951"/>
              <a:gd name="connsiteX0" fmla="*/ 0 w 1118769"/>
              <a:gd name="connsiteY0" fmla="*/ 0 h 1406951"/>
              <a:gd name="connsiteX1" fmla="*/ 1118769 w 1118769"/>
              <a:gd name="connsiteY1" fmla="*/ 0 h 1406951"/>
              <a:gd name="connsiteX2" fmla="*/ 1093717 w 1118769"/>
              <a:gd name="connsiteY2" fmla="*/ 10299 h 1406951"/>
              <a:gd name="connsiteX3" fmla="*/ 0 w 1118769"/>
              <a:gd name="connsiteY3" fmla="*/ 1406951 h 1406951"/>
              <a:gd name="connsiteX4" fmla="*/ 0 w 1118769"/>
              <a:gd name="connsiteY4" fmla="*/ 0 h 1406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769" h="1406951">
                <a:moveTo>
                  <a:pt x="0" y="0"/>
                </a:moveTo>
                <a:lnTo>
                  <a:pt x="1118769" y="0"/>
                </a:lnTo>
                <a:lnTo>
                  <a:pt x="1093717" y="10299"/>
                </a:lnTo>
                <a:lnTo>
                  <a:pt x="0" y="1406951"/>
                </a:lnTo>
                <a:lnTo>
                  <a:pt x="0" y="0"/>
                </a:lnTo>
                <a:close/>
              </a:path>
            </a:pathLst>
          </a:custGeom>
          <a:solidFill>
            <a:schemeClr val="accent3">
              <a:lumMod val="75000"/>
              <a:alpha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38">
            <a:extLst>
              <a:ext uri="{FF2B5EF4-FFF2-40B4-BE49-F238E27FC236}">
                <a16:creationId xmlns:a16="http://schemas.microsoft.com/office/drawing/2014/main" id="{6DD69EF6-00C0-2FFE-EE40-E189DD9A15B8}"/>
              </a:ext>
            </a:extLst>
          </p:cNvPr>
          <p:cNvSpPr/>
          <p:nvPr/>
        </p:nvSpPr>
        <p:spPr>
          <a:xfrm>
            <a:off x="6790088" y="3249773"/>
            <a:ext cx="1132913" cy="2997223"/>
          </a:xfrm>
          <a:custGeom>
            <a:avLst/>
            <a:gdLst>
              <a:gd name="connsiteX0" fmla="*/ 0 w 1118769"/>
              <a:gd name="connsiteY0" fmla="*/ 0 h 1326823"/>
              <a:gd name="connsiteX1" fmla="*/ 1118769 w 1118769"/>
              <a:gd name="connsiteY1" fmla="*/ 0 h 1326823"/>
              <a:gd name="connsiteX2" fmla="*/ 1118769 w 1118769"/>
              <a:gd name="connsiteY2" fmla="*/ 1326823 h 1326823"/>
              <a:gd name="connsiteX3" fmla="*/ 0 w 1118769"/>
              <a:gd name="connsiteY3" fmla="*/ 1326823 h 1326823"/>
              <a:gd name="connsiteX4" fmla="*/ 0 w 1118769"/>
              <a:gd name="connsiteY4" fmla="*/ 0 h 1326823"/>
              <a:gd name="connsiteX0" fmla="*/ 0 w 1118769"/>
              <a:gd name="connsiteY0" fmla="*/ 1421705 h 2748528"/>
              <a:gd name="connsiteX1" fmla="*/ 1106243 w 1118769"/>
              <a:gd name="connsiteY1" fmla="*/ 0 h 2748528"/>
              <a:gd name="connsiteX2" fmla="*/ 1118769 w 1118769"/>
              <a:gd name="connsiteY2" fmla="*/ 2748528 h 2748528"/>
              <a:gd name="connsiteX3" fmla="*/ 0 w 1118769"/>
              <a:gd name="connsiteY3" fmla="*/ 2748528 h 2748528"/>
              <a:gd name="connsiteX4" fmla="*/ 0 w 1118769"/>
              <a:gd name="connsiteY4" fmla="*/ 1421705 h 2748528"/>
              <a:gd name="connsiteX0" fmla="*/ 0 w 1107001"/>
              <a:gd name="connsiteY0" fmla="*/ 1670400 h 2997223"/>
              <a:gd name="connsiteX1" fmla="*/ 1106243 w 1107001"/>
              <a:gd name="connsiteY1" fmla="*/ 248695 h 2997223"/>
              <a:gd name="connsiteX2" fmla="*/ 1099980 w 1107001"/>
              <a:gd name="connsiteY2" fmla="*/ 266549 h 2997223"/>
              <a:gd name="connsiteX3" fmla="*/ 0 w 1107001"/>
              <a:gd name="connsiteY3" fmla="*/ 2997223 h 2997223"/>
              <a:gd name="connsiteX4" fmla="*/ 0 w 1107001"/>
              <a:gd name="connsiteY4" fmla="*/ 1670400 h 2997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7001" h="2997223">
                <a:moveTo>
                  <a:pt x="0" y="1670400"/>
                </a:moveTo>
                <a:lnTo>
                  <a:pt x="1106243" y="248695"/>
                </a:lnTo>
                <a:cubicBezTo>
                  <a:pt x="1110418" y="1164871"/>
                  <a:pt x="1095805" y="-649627"/>
                  <a:pt x="1099980" y="266549"/>
                </a:cubicBezTo>
                <a:lnTo>
                  <a:pt x="0" y="2997223"/>
                </a:lnTo>
                <a:lnTo>
                  <a:pt x="0" y="1670400"/>
                </a:lnTo>
                <a:close/>
              </a:path>
            </a:pathLst>
          </a:custGeom>
          <a:solidFill>
            <a:schemeClr val="accent3">
              <a:lumMod val="75000"/>
              <a:alpha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78314C02-7543-F98A-5325-009B6149EF57}"/>
              </a:ext>
            </a:extLst>
          </p:cNvPr>
          <p:cNvSpPr/>
          <p:nvPr/>
        </p:nvSpPr>
        <p:spPr>
          <a:xfrm>
            <a:off x="7923001" y="3497772"/>
            <a:ext cx="945523" cy="1422400"/>
          </a:xfrm>
          <a:custGeom>
            <a:avLst/>
            <a:gdLst>
              <a:gd name="connsiteX0" fmla="*/ 0 w 945523"/>
              <a:gd name="connsiteY0" fmla="*/ 0 h 1406949"/>
              <a:gd name="connsiteX1" fmla="*/ 945523 w 945523"/>
              <a:gd name="connsiteY1" fmla="*/ 0 h 1406949"/>
              <a:gd name="connsiteX2" fmla="*/ 945523 w 945523"/>
              <a:gd name="connsiteY2" fmla="*/ 1406949 h 1406949"/>
              <a:gd name="connsiteX3" fmla="*/ 0 w 945523"/>
              <a:gd name="connsiteY3" fmla="*/ 1406949 h 1406949"/>
              <a:gd name="connsiteX4" fmla="*/ 0 w 945523"/>
              <a:gd name="connsiteY4" fmla="*/ 0 h 1406949"/>
              <a:gd name="connsiteX0" fmla="*/ 0 w 945523"/>
              <a:gd name="connsiteY0" fmla="*/ 15451 h 1422400"/>
              <a:gd name="connsiteX1" fmla="*/ 945523 w 945523"/>
              <a:gd name="connsiteY1" fmla="*/ 15451 h 1422400"/>
              <a:gd name="connsiteX2" fmla="*/ 945523 w 945523"/>
              <a:gd name="connsiteY2" fmla="*/ 1422400 h 1422400"/>
              <a:gd name="connsiteX3" fmla="*/ 0 w 945523"/>
              <a:gd name="connsiteY3" fmla="*/ 0 h 1422400"/>
              <a:gd name="connsiteX4" fmla="*/ 0 w 945523"/>
              <a:gd name="connsiteY4" fmla="*/ 15451 h 142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523" h="1422400">
                <a:moveTo>
                  <a:pt x="0" y="15451"/>
                </a:moveTo>
                <a:lnTo>
                  <a:pt x="945523" y="15451"/>
                </a:lnTo>
                <a:lnTo>
                  <a:pt x="945523" y="1422400"/>
                </a:lnTo>
                <a:lnTo>
                  <a:pt x="0" y="0"/>
                </a:lnTo>
                <a:lnTo>
                  <a:pt x="0" y="15451"/>
                </a:lnTo>
                <a:close/>
              </a:path>
            </a:pathLst>
          </a:custGeom>
          <a:solidFill>
            <a:schemeClr val="accent3">
              <a:lumMod val="75000"/>
              <a:alpha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DA38D71A-C66C-6EDE-7127-BB35A9CB3A5D}"/>
              </a:ext>
            </a:extLst>
          </p:cNvPr>
          <p:cNvSpPr/>
          <p:nvPr/>
        </p:nvSpPr>
        <p:spPr>
          <a:xfrm>
            <a:off x="7889135" y="3475196"/>
            <a:ext cx="979390" cy="2771800"/>
          </a:xfrm>
          <a:custGeom>
            <a:avLst/>
            <a:gdLst>
              <a:gd name="connsiteX0" fmla="*/ 0 w 945523"/>
              <a:gd name="connsiteY0" fmla="*/ 0 h 1326823"/>
              <a:gd name="connsiteX1" fmla="*/ 945523 w 945523"/>
              <a:gd name="connsiteY1" fmla="*/ 0 h 1326823"/>
              <a:gd name="connsiteX2" fmla="*/ 945523 w 945523"/>
              <a:gd name="connsiteY2" fmla="*/ 1326823 h 1326823"/>
              <a:gd name="connsiteX3" fmla="*/ 0 w 945523"/>
              <a:gd name="connsiteY3" fmla="*/ 1326823 h 1326823"/>
              <a:gd name="connsiteX4" fmla="*/ 0 w 945523"/>
              <a:gd name="connsiteY4" fmla="*/ 0 h 1326823"/>
              <a:gd name="connsiteX0" fmla="*/ 0 w 996323"/>
              <a:gd name="connsiteY0" fmla="*/ 0 h 2754867"/>
              <a:gd name="connsiteX1" fmla="*/ 996323 w 996323"/>
              <a:gd name="connsiteY1" fmla="*/ 1428044 h 2754867"/>
              <a:gd name="connsiteX2" fmla="*/ 996323 w 996323"/>
              <a:gd name="connsiteY2" fmla="*/ 2754867 h 2754867"/>
              <a:gd name="connsiteX3" fmla="*/ 50800 w 996323"/>
              <a:gd name="connsiteY3" fmla="*/ 2754867 h 2754867"/>
              <a:gd name="connsiteX4" fmla="*/ 0 w 996323"/>
              <a:gd name="connsiteY4" fmla="*/ 0 h 2754867"/>
              <a:gd name="connsiteX0" fmla="*/ 0 w 979390"/>
              <a:gd name="connsiteY0" fmla="*/ 0 h 2771800"/>
              <a:gd name="connsiteX1" fmla="*/ 979390 w 979390"/>
              <a:gd name="connsiteY1" fmla="*/ 1444977 h 2771800"/>
              <a:gd name="connsiteX2" fmla="*/ 979390 w 979390"/>
              <a:gd name="connsiteY2" fmla="*/ 2771800 h 2771800"/>
              <a:gd name="connsiteX3" fmla="*/ 33867 w 979390"/>
              <a:gd name="connsiteY3" fmla="*/ 2771800 h 2771800"/>
              <a:gd name="connsiteX4" fmla="*/ 0 w 979390"/>
              <a:gd name="connsiteY4" fmla="*/ 0 h 2771800"/>
              <a:gd name="connsiteX0" fmla="*/ 0 w 979390"/>
              <a:gd name="connsiteY0" fmla="*/ 0 h 2771800"/>
              <a:gd name="connsiteX1" fmla="*/ 979390 w 979390"/>
              <a:gd name="connsiteY1" fmla="*/ 1444977 h 2771800"/>
              <a:gd name="connsiteX2" fmla="*/ 979390 w 979390"/>
              <a:gd name="connsiteY2" fmla="*/ 2771800 h 2771800"/>
              <a:gd name="connsiteX3" fmla="*/ 5645 w 979390"/>
              <a:gd name="connsiteY3" fmla="*/ 17311 h 2771800"/>
              <a:gd name="connsiteX4" fmla="*/ 0 w 979390"/>
              <a:gd name="connsiteY4" fmla="*/ 0 h 2771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390" h="2771800">
                <a:moveTo>
                  <a:pt x="0" y="0"/>
                </a:moveTo>
                <a:lnTo>
                  <a:pt x="979390" y="1444977"/>
                </a:lnTo>
                <a:lnTo>
                  <a:pt x="979390" y="2771800"/>
                </a:lnTo>
                <a:lnTo>
                  <a:pt x="5645" y="17311"/>
                </a:lnTo>
                <a:lnTo>
                  <a:pt x="0" y="0"/>
                </a:lnTo>
                <a:close/>
              </a:path>
            </a:pathLst>
          </a:custGeom>
          <a:solidFill>
            <a:schemeClr val="accent3">
              <a:lumMod val="75000"/>
              <a:alpha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0F319F75-7F4E-BBA1-D464-622B4A68D680}"/>
              </a:ext>
            </a:extLst>
          </p:cNvPr>
          <p:cNvSpPr txBox="1"/>
          <p:nvPr/>
        </p:nvSpPr>
        <p:spPr>
          <a:xfrm>
            <a:off x="5664248" y="1435761"/>
            <a:ext cx="1104628" cy="276999"/>
          </a:xfrm>
          <a:prstGeom prst="rect">
            <a:avLst/>
          </a:prstGeom>
          <a:noFill/>
          <a:ln>
            <a:solidFill>
              <a:srgbClr val="002060"/>
            </a:solidFill>
          </a:ln>
        </p:spPr>
        <p:txBody>
          <a:bodyPr wrap="square" rtlCol="0">
            <a:spAutoFit/>
          </a:bodyPr>
          <a:lstStyle/>
          <a:p>
            <a:r>
              <a:rPr lang="en-US" sz="1200" dirty="0">
                <a:solidFill>
                  <a:schemeClr val="bg1"/>
                </a:solidFill>
              </a:rPr>
              <a:t>Initialization</a:t>
            </a:r>
            <a:endParaRPr lang="en-IN" sz="1200" dirty="0">
              <a:solidFill>
                <a:schemeClr val="bg1"/>
              </a:solidFill>
            </a:endParaRPr>
          </a:p>
        </p:txBody>
      </p:sp>
      <p:sp>
        <p:nvSpPr>
          <p:cNvPr id="52" name="TextBox 51">
            <a:extLst>
              <a:ext uri="{FF2B5EF4-FFF2-40B4-BE49-F238E27FC236}">
                <a16:creationId xmlns:a16="http://schemas.microsoft.com/office/drawing/2014/main" id="{22491B03-E83F-0E3C-FBB9-1FDDE0456A24}"/>
              </a:ext>
            </a:extLst>
          </p:cNvPr>
          <p:cNvSpPr txBox="1"/>
          <p:nvPr/>
        </p:nvSpPr>
        <p:spPr>
          <a:xfrm>
            <a:off x="5830428" y="2339387"/>
            <a:ext cx="747071" cy="646329"/>
          </a:xfrm>
          <a:prstGeom prst="rect">
            <a:avLst/>
          </a:prstGeom>
          <a:noFill/>
          <a:ln>
            <a:solidFill>
              <a:srgbClr val="002060"/>
            </a:solidFill>
          </a:ln>
        </p:spPr>
        <p:txBody>
          <a:bodyPr wrap="square" rtlCol="0">
            <a:spAutoFit/>
          </a:bodyPr>
          <a:lstStyle/>
          <a:p>
            <a:r>
              <a:rPr lang="en-US" sz="1200" dirty="0">
                <a:solidFill>
                  <a:schemeClr val="bg1"/>
                </a:solidFill>
              </a:rPr>
              <a:t>Check ambient light</a:t>
            </a:r>
            <a:endParaRPr lang="en-IN" sz="1200" dirty="0">
              <a:solidFill>
                <a:schemeClr val="bg1"/>
              </a:solidFill>
            </a:endParaRPr>
          </a:p>
        </p:txBody>
      </p:sp>
      <p:sp>
        <p:nvSpPr>
          <p:cNvPr id="53" name="TextBox 52">
            <a:extLst>
              <a:ext uri="{FF2B5EF4-FFF2-40B4-BE49-F238E27FC236}">
                <a16:creationId xmlns:a16="http://schemas.microsoft.com/office/drawing/2014/main" id="{F2025E5D-D801-0B4E-FB54-E73E52AF3483}"/>
              </a:ext>
            </a:extLst>
          </p:cNvPr>
          <p:cNvSpPr txBox="1"/>
          <p:nvPr/>
        </p:nvSpPr>
        <p:spPr>
          <a:xfrm>
            <a:off x="9045321" y="1275263"/>
            <a:ext cx="813931" cy="461665"/>
          </a:xfrm>
          <a:prstGeom prst="rect">
            <a:avLst/>
          </a:prstGeom>
          <a:noFill/>
          <a:ln>
            <a:solidFill>
              <a:srgbClr val="002060"/>
            </a:solidFill>
          </a:ln>
        </p:spPr>
        <p:txBody>
          <a:bodyPr wrap="square" rtlCol="0">
            <a:spAutoFit/>
          </a:bodyPr>
          <a:lstStyle/>
          <a:p>
            <a:r>
              <a:rPr lang="en-US" sz="1200" dirty="0">
                <a:solidFill>
                  <a:schemeClr val="bg1"/>
                </a:solidFill>
              </a:rPr>
              <a:t>Detect motion</a:t>
            </a:r>
            <a:endParaRPr lang="en-IN" sz="1200" dirty="0">
              <a:solidFill>
                <a:schemeClr val="bg1"/>
              </a:solidFill>
            </a:endParaRPr>
          </a:p>
        </p:txBody>
      </p:sp>
      <p:sp>
        <p:nvSpPr>
          <p:cNvPr id="54" name="TextBox 53">
            <a:extLst>
              <a:ext uri="{FF2B5EF4-FFF2-40B4-BE49-F238E27FC236}">
                <a16:creationId xmlns:a16="http://schemas.microsoft.com/office/drawing/2014/main" id="{692456CD-1B6D-6968-7AFB-DAF3D52DB272}"/>
              </a:ext>
            </a:extLst>
          </p:cNvPr>
          <p:cNvSpPr txBox="1"/>
          <p:nvPr/>
        </p:nvSpPr>
        <p:spPr>
          <a:xfrm>
            <a:off x="8938239" y="2529109"/>
            <a:ext cx="976603" cy="461665"/>
          </a:xfrm>
          <a:prstGeom prst="rect">
            <a:avLst/>
          </a:prstGeom>
          <a:noFill/>
          <a:ln>
            <a:solidFill>
              <a:srgbClr val="002060"/>
            </a:solidFill>
          </a:ln>
        </p:spPr>
        <p:txBody>
          <a:bodyPr wrap="square" rtlCol="0">
            <a:spAutoFit/>
          </a:bodyPr>
          <a:lstStyle/>
          <a:p>
            <a:r>
              <a:rPr lang="en-US" sz="1200" dirty="0">
                <a:solidFill>
                  <a:schemeClr val="bg1"/>
                </a:solidFill>
              </a:rPr>
              <a:t>Increase  brightness</a:t>
            </a:r>
            <a:endParaRPr lang="en-IN" sz="1200" dirty="0">
              <a:solidFill>
                <a:schemeClr val="bg1"/>
              </a:solidFill>
            </a:endParaRPr>
          </a:p>
        </p:txBody>
      </p:sp>
      <p:sp>
        <p:nvSpPr>
          <p:cNvPr id="55" name="TextBox 54">
            <a:extLst>
              <a:ext uri="{FF2B5EF4-FFF2-40B4-BE49-F238E27FC236}">
                <a16:creationId xmlns:a16="http://schemas.microsoft.com/office/drawing/2014/main" id="{748807BC-F619-E354-5D52-17BF7BC15D80}"/>
              </a:ext>
            </a:extLst>
          </p:cNvPr>
          <p:cNvSpPr txBox="1"/>
          <p:nvPr/>
        </p:nvSpPr>
        <p:spPr>
          <a:xfrm>
            <a:off x="8938239" y="3873226"/>
            <a:ext cx="865742" cy="461665"/>
          </a:xfrm>
          <a:prstGeom prst="rect">
            <a:avLst/>
          </a:prstGeom>
          <a:noFill/>
          <a:ln>
            <a:solidFill>
              <a:srgbClr val="002060"/>
            </a:solidFill>
          </a:ln>
        </p:spPr>
        <p:txBody>
          <a:bodyPr wrap="square" rtlCol="0">
            <a:spAutoFit/>
          </a:bodyPr>
          <a:lstStyle/>
          <a:p>
            <a:r>
              <a:rPr lang="en-US" sz="1200" dirty="0">
                <a:solidFill>
                  <a:schemeClr val="bg1"/>
                </a:solidFill>
              </a:rPr>
              <a:t>Dim lights</a:t>
            </a:r>
            <a:endParaRPr lang="en-IN" sz="1200" dirty="0">
              <a:solidFill>
                <a:schemeClr val="bg1"/>
              </a:solidFill>
            </a:endParaRPr>
          </a:p>
        </p:txBody>
      </p:sp>
      <p:sp>
        <p:nvSpPr>
          <p:cNvPr id="57" name="TextBox 56">
            <a:extLst>
              <a:ext uri="{FF2B5EF4-FFF2-40B4-BE49-F238E27FC236}">
                <a16:creationId xmlns:a16="http://schemas.microsoft.com/office/drawing/2014/main" id="{D62C417C-EFE5-B126-3A5B-9F7CAA22D7B3}"/>
              </a:ext>
            </a:extLst>
          </p:cNvPr>
          <p:cNvSpPr txBox="1"/>
          <p:nvPr/>
        </p:nvSpPr>
        <p:spPr>
          <a:xfrm>
            <a:off x="8990050" y="5301929"/>
            <a:ext cx="823997" cy="276999"/>
          </a:xfrm>
          <a:prstGeom prst="rect">
            <a:avLst/>
          </a:prstGeom>
          <a:noFill/>
          <a:ln>
            <a:solidFill>
              <a:srgbClr val="002060"/>
            </a:solidFill>
          </a:ln>
        </p:spPr>
        <p:txBody>
          <a:bodyPr wrap="square" rtlCol="0">
            <a:spAutoFit/>
          </a:bodyPr>
          <a:lstStyle/>
          <a:p>
            <a:r>
              <a:rPr lang="en-US" sz="1200" dirty="0">
                <a:solidFill>
                  <a:schemeClr val="bg1"/>
                </a:solidFill>
              </a:rPr>
              <a:t>loop</a:t>
            </a:r>
            <a:endParaRPr lang="en-IN" sz="1200" dirty="0">
              <a:solidFill>
                <a:schemeClr val="bg1"/>
              </a:solidFill>
            </a:endParaRPr>
          </a:p>
        </p:txBody>
      </p:sp>
      <p:sp>
        <p:nvSpPr>
          <p:cNvPr id="58" name="TextBox 57">
            <a:extLst>
              <a:ext uri="{FF2B5EF4-FFF2-40B4-BE49-F238E27FC236}">
                <a16:creationId xmlns:a16="http://schemas.microsoft.com/office/drawing/2014/main" id="{8ACFF5E3-9CDB-0442-FDC5-65C031407489}"/>
              </a:ext>
            </a:extLst>
          </p:cNvPr>
          <p:cNvSpPr txBox="1"/>
          <p:nvPr/>
        </p:nvSpPr>
        <p:spPr>
          <a:xfrm>
            <a:off x="5708902" y="5150100"/>
            <a:ext cx="868597" cy="461665"/>
          </a:xfrm>
          <a:prstGeom prst="rect">
            <a:avLst/>
          </a:prstGeom>
          <a:noFill/>
          <a:ln>
            <a:solidFill>
              <a:srgbClr val="002060"/>
            </a:solidFill>
          </a:ln>
        </p:spPr>
        <p:txBody>
          <a:bodyPr wrap="square" rtlCol="0">
            <a:spAutoFit/>
          </a:bodyPr>
          <a:lstStyle/>
          <a:p>
            <a:r>
              <a:rPr lang="en-US" sz="1200" dirty="0">
                <a:solidFill>
                  <a:schemeClr val="bg1"/>
                </a:solidFill>
              </a:rPr>
              <a:t>Turn on lights</a:t>
            </a:r>
            <a:endParaRPr lang="en-IN" sz="1200" dirty="0">
              <a:solidFill>
                <a:schemeClr val="bg1"/>
              </a:solidFill>
            </a:endParaRPr>
          </a:p>
        </p:txBody>
      </p:sp>
      <p:sp>
        <p:nvSpPr>
          <p:cNvPr id="59" name="Rectangle: Rounded Corners 58">
            <a:extLst>
              <a:ext uri="{FF2B5EF4-FFF2-40B4-BE49-F238E27FC236}">
                <a16:creationId xmlns:a16="http://schemas.microsoft.com/office/drawing/2014/main" id="{6F53C129-B70E-F903-B90E-81EA338D09A6}"/>
              </a:ext>
            </a:extLst>
          </p:cNvPr>
          <p:cNvSpPr/>
          <p:nvPr/>
        </p:nvSpPr>
        <p:spPr>
          <a:xfrm>
            <a:off x="5162376" y="666983"/>
            <a:ext cx="724747" cy="654578"/>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endParaRPr lang="en-IN"/>
          </a:p>
        </p:txBody>
      </p:sp>
      <p:sp>
        <p:nvSpPr>
          <p:cNvPr id="60" name="Rectangle: Rounded Corners 59">
            <a:extLst>
              <a:ext uri="{FF2B5EF4-FFF2-40B4-BE49-F238E27FC236}">
                <a16:creationId xmlns:a16="http://schemas.microsoft.com/office/drawing/2014/main" id="{61532D4D-E0B4-416B-FCDD-0CA3FB21FB1D}"/>
              </a:ext>
            </a:extLst>
          </p:cNvPr>
          <p:cNvSpPr/>
          <p:nvPr/>
        </p:nvSpPr>
        <p:spPr>
          <a:xfrm>
            <a:off x="5200847" y="5755062"/>
            <a:ext cx="724747" cy="654578"/>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sp>
        <p:nvSpPr>
          <p:cNvPr id="61" name="Rectangle: Rounded Corners 60">
            <a:extLst>
              <a:ext uri="{FF2B5EF4-FFF2-40B4-BE49-F238E27FC236}">
                <a16:creationId xmlns:a16="http://schemas.microsoft.com/office/drawing/2014/main" id="{5D442EA8-3206-792E-83E0-BAD582375F9A}"/>
              </a:ext>
            </a:extLst>
          </p:cNvPr>
          <p:cNvSpPr/>
          <p:nvPr/>
        </p:nvSpPr>
        <p:spPr>
          <a:xfrm>
            <a:off x="9767912" y="3846832"/>
            <a:ext cx="724747" cy="654578"/>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7.</a:t>
            </a:r>
            <a:endParaRPr lang="en-IN"/>
          </a:p>
        </p:txBody>
      </p:sp>
      <p:sp>
        <p:nvSpPr>
          <p:cNvPr id="62" name="Rectangle: Rounded Corners 61">
            <a:extLst>
              <a:ext uri="{FF2B5EF4-FFF2-40B4-BE49-F238E27FC236}">
                <a16:creationId xmlns:a16="http://schemas.microsoft.com/office/drawing/2014/main" id="{B9899607-A5E6-8079-9CEC-92646CA42EFC}"/>
              </a:ext>
            </a:extLst>
          </p:cNvPr>
          <p:cNvSpPr/>
          <p:nvPr/>
        </p:nvSpPr>
        <p:spPr>
          <a:xfrm>
            <a:off x="5143585" y="3898243"/>
            <a:ext cx="724747" cy="654578"/>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endParaRPr lang="en-IN"/>
          </a:p>
        </p:txBody>
      </p:sp>
      <p:sp>
        <p:nvSpPr>
          <p:cNvPr id="63" name="Rectangle: Rounded Corners 62">
            <a:extLst>
              <a:ext uri="{FF2B5EF4-FFF2-40B4-BE49-F238E27FC236}">
                <a16:creationId xmlns:a16="http://schemas.microsoft.com/office/drawing/2014/main" id="{083693E4-0FC5-CBEC-7074-0583884AC880}"/>
              </a:ext>
            </a:extLst>
          </p:cNvPr>
          <p:cNvSpPr/>
          <p:nvPr/>
        </p:nvSpPr>
        <p:spPr>
          <a:xfrm>
            <a:off x="5086310" y="2479945"/>
            <a:ext cx="724747" cy="654578"/>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2.</a:t>
            </a:r>
            <a:endParaRPr lang="en-IN"/>
          </a:p>
        </p:txBody>
      </p:sp>
      <p:sp>
        <p:nvSpPr>
          <p:cNvPr id="64" name="Rectangle: Rounded Corners 63">
            <a:extLst>
              <a:ext uri="{FF2B5EF4-FFF2-40B4-BE49-F238E27FC236}">
                <a16:creationId xmlns:a16="http://schemas.microsoft.com/office/drawing/2014/main" id="{4A34E6DD-8E26-EA8E-0E47-E5D67B43F25F}"/>
              </a:ext>
            </a:extLst>
          </p:cNvPr>
          <p:cNvSpPr/>
          <p:nvPr/>
        </p:nvSpPr>
        <p:spPr>
          <a:xfrm>
            <a:off x="9930501" y="2489597"/>
            <a:ext cx="724747" cy="654578"/>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6.</a:t>
            </a:r>
            <a:endParaRPr lang="en-IN"/>
          </a:p>
        </p:txBody>
      </p:sp>
      <p:sp>
        <p:nvSpPr>
          <p:cNvPr id="65" name="Rectangle: Rounded Corners 64">
            <a:extLst>
              <a:ext uri="{FF2B5EF4-FFF2-40B4-BE49-F238E27FC236}">
                <a16:creationId xmlns:a16="http://schemas.microsoft.com/office/drawing/2014/main" id="{9D35A74A-58F1-A810-DBE7-7D7E8604DE84}"/>
              </a:ext>
            </a:extLst>
          </p:cNvPr>
          <p:cNvSpPr/>
          <p:nvPr/>
        </p:nvSpPr>
        <p:spPr>
          <a:xfrm>
            <a:off x="9828185" y="686989"/>
            <a:ext cx="724747" cy="654578"/>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5.</a:t>
            </a:r>
            <a:endParaRPr lang="en-IN"/>
          </a:p>
        </p:txBody>
      </p:sp>
      <p:sp>
        <p:nvSpPr>
          <p:cNvPr id="66" name="Rectangle: Rounded Corners 65">
            <a:extLst>
              <a:ext uri="{FF2B5EF4-FFF2-40B4-BE49-F238E27FC236}">
                <a16:creationId xmlns:a16="http://schemas.microsoft.com/office/drawing/2014/main" id="{BE1AB124-9D49-7B73-B0A9-ABAA8BB8B14C}"/>
              </a:ext>
            </a:extLst>
          </p:cNvPr>
          <p:cNvSpPr/>
          <p:nvPr/>
        </p:nvSpPr>
        <p:spPr>
          <a:xfrm>
            <a:off x="9791248" y="5739099"/>
            <a:ext cx="724747" cy="654578"/>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8.</a:t>
            </a:r>
            <a:endParaRPr lang="en-IN"/>
          </a:p>
        </p:txBody>
      </p:sp>
      <p:sp>
        <p:nvSpPr>
          <p:cNvPr id="72" name="Rectangle: Rounded Corners 71">
            <a:extLst>
              <a:ext uri="{FF2B5EF4-FFF2-40B4-BE49-F238E27FC236}">
                <a16:creationId xmlns:a16="http://schemas.microsoft.com/office/drawing/2014/main" id="{D13CE679-81C2-E985-1A6F-994703C8FDA8}"/>
              </a:ext>
            </a:extLst>
          </p:cNvPr>
          <p:cNvSpPr/>
          <p:nvPr/>
        </p:nvSpPr>
        <p:spPr>
          <a:xfrm>
            <a:off x="7545055" y="2985716"/>
            <a:ext cx="780520" cy="1144041"/>
          </a:xfrm>
          <a:prstGeom prst="roundRect">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Iot</a:t>
            </a:r>
            <a:r>
              <a:rPr lang="en-US" sz="1600" dirty="0"/>
              <a:t> street light</a:t>
            </a:r>
            <a:endParaRPr lang="en-IN" sz="1600" dirty="0"/>
          </a:p>
        </p:txBody>
      </p:sp>
      <p:sp>
        <p:nvSpPr>
          <p:cNvPr id="3" name="TextBox 2"/>
          <p:cNvSpPr txBox="1"/>
          <p:nvPr/>
        </p:nvSpPr>
        <p:spPr>
          <a:xfrm>
            <a:off x="166222" y="3164153"/>
            <a:ext cx="4323425" cy="400110"/>
          </a:xfrm>
          <a:prstGeom prst="rect">
            <a:avLst/>
          </a:prstGeom>
          <a:noFill/>
        </p:spPr>
        <p:txBody>
          <a:bodyPr wrap="square" rtlCol="0">
            <a:spAutoFit/>
          </a:bodyPr>
          <a:lstStyle/>
          <a:p>
            <a:r>
              <a:rPr lang="en-US" sz="2000" b="1" dirty="0">
                <a:solidFill>
                  <a:schemeClr val="accent6"/>
                </a:solidFill>
                <a:latin typeface="Bell MT" panose="02020503060305020303" pitchFamily="18" charset="0"/>
              </a:rPr>
              <a:t>PICTORIAL REPRESENTATION</a:t>
            </a:r>
            <a:endParaRPr lang="en-IN" sz="2000" b="1" dirty="0">
              <a:solidFill>
                <a:schemeClr val="accent6"/>
              </a:solidFill>
              <a:latin typeface="Bell MT" panose="02020503060305020303" pitchFamily="18" charset="0"/>
            </a:endParaRPr>
          </a:p>
        </p:txBody>
      </p:sp>
    </p:spTree>
    <p:extLst>
      <p:ext uri="{BB962C8B-B14F-4D97-AF65-F5344CB8AC3E}">
        <p14:creationId xmlns:p14="http://schemas.microsoft.com/office/powerpoint/2010/main" val="2902276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443" y="328844"/>
            <a:ext cx="4868546" cy="3014868"/>
          </a:xfrm>
          <a:prstGeom prst="rect">
            <a:avLst/>
          </a:prstGeom>
        </p:spPr>
      </p:pic>
      <p:pic>
        <p:nvPicPr>
          <p:cNvPr id="3" name="Picture 2">
            <a:extLst>
              <a:ext uri="{FF2B5EF4-FFF2-40B4-BE49-F238E27FC236}">
                <a16:creationId xmlns:a16="http://schemas.microsoft.com/office/drawing/2014/main" id="{E90D1A7B-D6C6-6E9A-6933-7FD39472AD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5921071" y="3343711"/>
            <a:ext cx="5486400" cy="2959146"/>
          </a:xfrm>
          <a:prstGeom prst="rect">
            <a:avLst/>
          </a:prstGeom>
          <a:noFill/>
          <a:ln>
            <a:noFill/>
          </a:ln>
        </p:spPr>
      </p:pic>
    </p:spTree>
    <p:extLst>
      <p:ext uri="{BB962C8B-B14F-4D97-AF65-F5344CB8AC3E}">
        <p14:creationId xmlns:p14="http://schemas.microsoft.com/office/powerpoint/2010/main" val="1182038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75354" y="196445"/>
            <a:ext cx="4687410" cy="523220"/>
          </a:xfrm>
          <a:prstGeom prst="rect">
            <a:avLst/>
          </a:prstGeom>
          <a:noFill/>
        </p:spPr>
        <p:txBody>
          <a:bodyPr wrap="square" rtlCol="0">
            <a:spAutoFit/>
          </a:bodyPr>
          <a:lstStyle/>
          <a:p>
            <a:r>
              <a:rPr lang="en-US" sz="2800" b="1" dirty="0">
                <a:solidFill>
                  <a:schemeClr val="accent6"/>
                </a:solidFill>
                <a:latin typeface="Bell MT" panose="02020503060305020303" pitchFamily="18" charset="0"/>
              </a:rPr>
              <a:t>LITERATURE SURVEY</a:t>
            </a:r>
            <a:endParaRPr lang="en-IN" sz="2800" b="1" dirty="0">
              <a:solidFill>
                <a:schemeClr val="accent6"/>
              </a:solidFill>
              <a:latin typeface="Bell MT" panose="02020503060305020303"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256929246"/>
              </p:ext>
            </p:extLst>
          </p:nvPr>
        </p:nvGraphicFramePr>
        <p:xfrm>
          <a:off x="2032000" y="1047564"/>
          <a:ext cx="8128000" cy="5601811"/>
        </p:xfrm>
        <a:graphic>
          <a:graphicData uri="http://schemas.openxmlformats.org/drawingml/2006/table">
            <a:tbl>
              <a:tblPr firstRow="1" bandRow="1">
                <a:tableStyleId>{C083E6E3-FA7D-4D7B-A595-EF9225AFEA82}</a:tableStyleId>
              </a:tblPr>
              <a:tblGrid>
                <a:gridCol w="1625600">
                  <a:extLst>
                    <a:ext uri="{9D8B030D-6E8A-4147-A177-3AD203B41FA5}">
                      <a16:colId xmlns:a16="http://schemas.microsoft.com/office/drawing/2014/main" val="3192513322"/>
                    </a:ext>
                  </a:extLst>
                </a:gridCol>
                <a:gridCol w="1625600">
                  <a:extLst>
                    <a:ext uri="{9D8B030D-6E8A-4147-A177-3AD203B41FA5}">
                      <a16:colId xmlns:a16="http://schemas.microsoft.com/office/drawing/2014/main" val="2491069283"/>
                    </a:ext>
                  </a:extLst>
                </a:gridCol>
                <a:gridCol w="1625600">
                  <a:extLst>
                    <a:ext uri="{9D8B030D-6E8A-4147-A177-3AD203B41FA5}">
                      <a16:colId xmlns:a16="http://schemas.microsoft.com/office/drawing/2014/main" val="688808979"/>
                    </a:ext>
                  </a:extLst>
                </a:gridCol>
                <a:gridCol w="1625600">
                  <a:extLst>
                    <a:ext uri="{9D8B030D-6E8A-4147-A177-3AD203B41FA5}">
                      <a16:colId xmlns:a16="http://schemas.microsoft.com/office/drawing/2014/main" val="1389239162"/>
                    </a:ext>
                  </a:extLst>
                </a:gridCol>
                <a:gridCol w="1625600">
                  <a:extLst>
                    <a:ext uri="{9D8B030D-6E8A-4147-A177-3AD203B41FA5}">
                      <a16:colId xmlns:a16="http://schemas.microsoft.com/office/drawing/2014/main" val="3604128447"/>
                    </a:ext>
                  </a:extLst>
                </a:gridCol>
              </a:tblGrid>
              <a:tr h="426225">
                <a:tc>
                  <a:txBody>
                    <a:bodyPr/>
                    <a:lstStyle/>
                    <a:p>
                      <a:r>
                        <a:rPr lang="en-US" sz="1200" dirty="0">
                          <a:latin typeface="+mn-lt"/>
                        </a:rPr>
                        <a:t>SL.NO</a:t>
                      </a:r>
                    </a:p>
                  </a:txBody>
                  <a:tcPr anchor="ctr"/>
                </a:tc>
                <a:tc>
                  <a:txBody>
                    <a:bodyPr/>
                    <a:lstStyle/>
                    <a:p>
                      <a:r>
                        <a:rPr lang="en-IN" sz="1200" dirty="0">
                          <a:latin typeface="+mn-lt"/>
                        </a:rPr>
                        <a:t>Book / Chapter Title</a:t>
                      </a:r>
                    </a:p>
                  </a:txBody>
                  <a:tcPr anchor="ctr"/>
                </a:tc>
                <a:tc>
                  <a:txBody>
                    <a:bodyPr/>
                    <a:lstStyle/>
                    <a:p>
                      <a:r>
                        <a:rPr lang="en-IN" sz="1200">
                          <a:latin typeface="+mn-lt"/>
                        </a:rPr>
                        <a:t>Author(s)</a:t>
                      </a:r>
                    </a:p>
                  </a:txBody>
                  <a:tcPr anchor="ctr"/>
                </a:tc>
                <a:tc>
                  <a:txBody>
                    <a:bodyPr/>
                    <a:lstStyle/>
                    <a:p>
                      <a:r>
                        <a:rPr lang="en-IN" sz="1200">
                          <a:latin typeface="+mn-lt"/>
                        </a:rPr>
                        <a:t>Publisher</a:t>
                      </a:r>
                    </a:p>
                  </a:txBody>
                  <a:tcPr anchor="ctr"/>
                </a:tc>
                <a:tc>
                  <a:txBody>
                    <a:bodyPr/>
                    <a:lstStyle/>
                    <a:p>
                      <a:r>
                        <a:rPr lang="en-IN" sz="1200">
                          <a:latin typeface="+mn-lt"/>
                        </a:rPr>
                        <a:t>Year</a:t>
                      </a:r>
                    </a:p>
                  </a:txBody>
                  <a:tcPr anchor="ctr"/>
                </a:tc>
                <a:extLst>
                  <a:ext uri="{0D108BD9-81ED-4DB2-BD59-A6C34878D82A}">
                    <a16:rowId xmlns:a16="http://schemas.microsoft.com/office/drawing/2014/main" val="1663997893"/>
                  </a:ext>
                </a:extLst>
              </a:tr>
              <a:tr h="791560">
                <a:tc>
                  <a:txBody>
                    <a:bodyPr/>
                    <a:lstStyle/>
                    <a:p>
                      <a:r>
                        <a:rPr lang="en-IN" sz="1200" dirty="0">
                          <a:latin typeface="+mn-lt"/>
                        </a:rPr>
                        <a:t>1</a:t>
                      </a:r>
                    </a:p>
                  </a:txBody>
                  <a:tcPr anchor="ctr"/>
                </a:tc>
                <a:tc>
                  <a:txBody>
                    <a:bodyPr/>
                    <a:lstStyle/>
                    <a:p>
                      <a:r>
                        <a:rPr lang="en-IN" sz="1200" i="1" dirty="0">
                          <a:latin typeface="+mn-lt"/>
                        </a:rPr>
                        <a:t>IOT Based Smart Street Pole for Smart Cities</a:t>
                      </a:r>
                      <a:endParaRPr lang="en-IN" sz="1200" dirty="0">
                        <a:latin typeface="+mn-lt"/>
                      </a:endParaRPr>
                    </a:p>
                  </a:txBody>
                  <a:tcPr anchor="ctr"/>
                </a:tc>
                <a:tc>
                  <a:txBody>
                    <a:bodyPr/>
                    <a:lstStyle/>
                    <a:p>
                      <a:r>
                        <a:rPr lang="en-IN" sz="1200">
                          <a:latin typeface="+mn-lt"/>
                        </a:rPr>
                        <a:t>D. Betteena &amp; S. Fernando</a:t>
                      </a:r>
                    </a:p>
                  </a:txBody>
                  <a:tcPr anchor="ctr"/>
                </a:tc>
                <a:tc>
                  <a:txBody>
                    <a:bodyPr/>
                    <a:lstStyle/>
                    <a:p>
                      <a:r>
                        <a:rPr lang="en-IN" sz="1200">
                          <a:latin typeface="+mn-lt"/>
                        </a:rPr>
                        <a:t>AIJR Books</a:t>
                      </a:r>
                    </a:p>
                  </a:txBody>
                  <a:tcPr anchor="ctr"/>
                </a:tc>
                <a:tc>
                  <a:txBody>
                    <a:bodyPr/>
                    <a:lstStyle/>
                    <a:p>
                      <a:r>
                        <a:rPr lang="en-IN" sz="1200" dirty="0">
                          <a:latin typeface="+mn-lt"/>
                        </a:rPr>
                        <a:t>2020</a:t>
                      </a:r>
                    </a:p>
                  </a:txBody>
                  <a:tcPr anchor="ctr"/>
                </a:tc>
                <a:extLst>
                  <a:ext uri="{0D108BD9-81ED-4DB2-BD59-A6C34878D82A}">
                    <a16:rowId xmlns:a16="http://schemas.microsoft.com/office/drawing/2014/main" val="2441613840"/>
                  </a:ext>
                </a:extLst>
              </a:tr>
              <a:tr h="1156896">
                <a:tc>
                  <a:txBody>
                    <a:bodyPr/>
                    <a:lstStyle/>
                    <a:p>
                      <a:r>
                        <a:rPr lang="en-IN" sz="1200">
                          <a:latin typeface="+mn-lt"/>
                        </a:rPr>
                        <a:t>2</a:t>
                      </a:r>
                    </a:p>
                  </a:txBody>
                  <a:tcPr anchor="ctr"/>
                </a:tc>
                <a:tc>
                  <a:txBody>
                    <a:bodyPr/>
                    <a:lstStyle/>
                    <a:p>
                      <a:r>
                        <a:rPr lang="en-IN" sz="1200" i="1" dirty="0">
                          <a:latin typeface="+mn-lt"/>
                        </a:rPr>
                        <a:t>IOT Based Smart Street Lighting System</a:t>
                      </a:r>
                      <a:endParaRPr lang="en-IN" sz="1200" dirty="0">
                        <a:latin typeface="+mn-lt"/>
                      </a:endParaRPr>
                    </a:p>
                  </a:txBody>
                  <a:tcPr anchor="ctr"/>
                </a:tc>
                <a:tc>
                  <a:txBody>
                    <a:bodyPr/>
                    <a:lstStyle/>
                    <a:p>
                      <a:r>
                        <a:rPr lang="en-IN" sz="1200" dirty="0" err="1">
                          <a:latin typeface="+mn-lt"/>
                        </a:rPr>
                        <a:t>Prashanth</a:t>
                      </a:r>
                      <a:r>
                        <a:rPr lang="en-IN" sz="1200" dirty="0">
                          <a:latin typeface="+mn-lt"/>
                        </a:rPr>
                        <a:t> S. U., </a:t>
                      </a:r>
                      <a:r>
                        <a:rPr lang="en-IN" sz="1200" dirty="0" err="1">
                          <a:latin typeface="+mn-lt"/>
                        </a:rPr>
                        <a:t>Rakshanraj</a:t>
                      </a:r>
                      <a:r>
                        <a:rPr lang="en-IN" sz="1200" dirty="0">
                          <a:latin typeface="+mn-lt"/>
                        </a:rPr>
                        <a:t> J. &amp; A. Maria Christina </a:t>
                      </a:r>
                      <a:r>
                        <a:rPr lang="en-IN" sz="1200" dirty="0" err="1">
                          <a:latin typeface="+mn-lt"/>
                        </a:rPr>
                        <a:t>Blessy</a:t>
                      </a:r>
                      <a:endParaRPr lang="en-IN" sz="1200" dirty="0">
                        <a:latin typeface="+mn-lt"/>
                      </a:endParaRPr>
                    </a:p>
                  </a:txBody>
                  <a:tcPr anchor="ctr"/>
                </a:tc>
                <a:tc>
                  <a:txBody>
                    <a:bodyPr/>
                    <a:lstStyle/>
                    <a:p>
                      <a:r>
                        <a:rPr lang="en-IN" sz="1200">
                          <a:latin typeface="+mn-lt"/>
                        </a:rPr>
                        <a:t>IJERT (ETEDM 2022 Conference)</a:t>
                      </a:r>
                    </a:p>
                  </a:txBody>
                  <a:tcPr anchor="ctr"/>
                </a:tc>
                <a:tc>
                  <a:txBody>
                    <a:bodyPr/>
                    <a:lstStyle/>
                    <a:p>
                      <a:r>
                        <a:rPr lang="en-IN" sz="1200" dirty="0">
                          <a:latin typeface="+mn-lt"/>
                        </a:rPr>
                        <a:t>2022</a:t>
                      </a:r>
                    </a:p>
                  </a:txBody>
                  <a:tcPr anchor="ctr"/>
                </a:tc>
                <a:extLst>
                  <a:ext uri="{0D108BD9-81ED-4DB2-BD59-A6C34878D82A}">
                    <a16:rowId xmlns:a16="http://schemas.microsoft.com/office/drawing/2014/main" val="2008036926"/>
                  </a:ext>
                </a:extLst>
              </a:tr>
              <a:tr h="1522231">
                <a:tc>
                  <a:txBody>
                    <a:bodyPr/>
                    <a:lstStyle/>
                    <a:p>
                      <a:r>
                        <a:rPr lang="en-IN" sz="1200">
                          <a:latin typeface="+mn-lt"/>
                        </a:rPr>
                        <a:t>3</a:t>
                      </a:r>
                    </a:p>
                  </a:txBody>
                  <a:tcPr anchor="ctr"/>
                </a:tc>
                <a:tc>
                  <a:txBody>
                    <a:bodyPr/>
                    <a:lstStyle/>
                    <a:p>
                      <a:r>
                        <a:rPr lang="en-US" sz="1200" i="1" dirty="0">
                          <a:latin typeface="+mn-lt"/>
                        </a:rPr>
                        <a:t>IOT Based Smart Street Light System – From Legacy to Intelligent: A Retrofit Approach</a:t>
                      </a:r>
                      <a:endParaRPr lang="en-US" sz="1200" dirty="0">
                        <a:latin typeface="+mn-lt"/>
                      </a:endParaRPr>
                    </a:p>
                  </a:txBody>
                  <a:tcPr anchor="ctr"/>
                </a:tc>
                <a:tc>
                  <a:txBody>
                    <a:bodyPr/>
                    <a:lstStyle/>
                    <a:p>
                      <a:r>
                        <a:rPr lang="en-IN" sz="1200" dirty="0">
                          <a:latin typeface="+mn-lt"/>
                        </a:rPr>
                        <a:t>Gaurav Kumar Biswas &amp; </a:t>
                      </a:r>
                      <a:r>
                        <a:rPr lang="en-IN" sz="1200" dirty="0" err="1">
                          <a:latin typeface="+mn-lt"/>
                        </a:rPr>
                        <a:t>Hardik</a:t>
                      </a:r>
                      <a:endParaRPr lang="en-IN" sz="1200" dirty="0">
                        <a:latin typeface="+mn-lt"/>
                      </a:endParaRPr>
                    </a:p>
                  </a:txBody>
                  <a:tcPr anchor="ctr"/>
                </a:tc>
                <a:tc>
                  <a:txBody>
                    <a:bodyPr/>
                    <a:lstStyle/>
                    <a:p>
                      <a:r>
                        <a:rPr lang="en-IN" sz="1200" dirty="0">
                          <a:latin typeface="+mn-lt"/>
                        </a:rPr>
                        <a:t>IJERT</a:t>
                      </a:r>
                    </a:p>
                  </a:txBody>
                  <a:tcPr anchor="ctr"/>
                </a:tc>
                <a:tc>
                  <a:txBody>
                    <a:bodyPr/>
                    <a:lstStyle/>
                    <a:p>
                      <a:r>
                        <a:rPr lang="en-IN" sz="1200" dirty="0">
                          <a:latin typeface="+mn-lt"/>
                        </a:rPr>
                        <a:t>2024</a:t>
                      </a:r>
                    </a:p>
                  </a:txBody>
                  <a:tcPr anchor="ctr"/>
                </a:tc>
                <a:extLst>
                  <a:ext uri="{0D108BD9-81ED-4DB2-BD59-A6C34878D82A}">
                    <a16:rowId xmlns:a16="http://schemas.microsoft.com/office/drawing/2014/main" val="2475528997"/>
                  </a:ext>
                </a:extLst>
              </a:tr>
              <a:tr h="1704899">
                <a:tc>
                  <a:txBody>
                    <a:bodyPr/>
                    <a:lstStyle/>
                    <a:p>
                      <a:r>
                        <a:rPr lang="en-IN" sz="1200">
                          <a:latin typeface="+mn-lt"/>
                        </a:rPr>
                        <a:t>4</a:t>
                      </a:r>
                    </a:p>
                  </a:txBody>
                  <a:tcPr anchor="ctr"/>
                </a:tc>
                <a:tc>
                  <a:txBody>
                    <a:bodyPr/>
                    <a:lstStyle/>
                    <a:p>
                      <a:r>
                        <a:rPr lang="en-US" sz="1200" i="1">
                          <a:latin typeface="+mn-lt"/>
                        </a:rPr>
                        <a:t>Intelligent Street Lighting: An IoT-based System for Adaptive Brightness and Fault Management</a:t>
                      </a:r>
                      <a:endParaRPr lang="en-US" sz="1200">
                        <a:latin typeface="+mn-lt"/>
                      </a:endParaRPr>
                    </a:p>
                  </a:txBody>
                  <a:tcPr anchor="ctr"/>
                </a:tc>
                <a:tc>
                  <a:txBody>
                    <a:bodyPr/>
                    <a:lstStyle/>
                    <a:p>
                      <a:r>
                        <a:rPr lang="en-IN" sz="1200" dirty="0">
                          <a:latin typeface="+mn-lt"/>
                        </a:rPr>
                        <a:t>S. </a:t>
                      </a:r>
                      <a:r>
                        <a:rPr lang="en-IN" sz="1200" dirty="0" err="1">
                          <a:latin typeface="+mn-lt"/>
                        </a:rPr>
                        <a:t>Sasidevi</a:t>
                      </a:r>
                      <a:r>
                        <a:rPr lang="en-IN" sz="1200" dirty="0">
                          <a:latin typeface="+mn-lt"/>
                        </a:rPr>
                        <a:t> &amp; </a:t>
                      </a:r>
                      <a:r>
                        <a:rPr lang="en-IN" sz="1200" dirty="0" err="1">
                          <a:latin typeface="+mn-lt"/>
                        </a:rPr>
                        <a:t>Vasanthi</a:t>
                      </a:r>
                      <a:r>
                        <a:rPr lang="en-IN" sz="1200" dirty="0">
                          <a:latin typeface="+mn-lt"/>
                        </a:rPr>
                        <a:t> M.</a:t>
                      </a:r>
                    </a:p>
                  </a:txBody>
                  <a:tcPr anchor="ctr"/>
                </a:tc>
                <a:tc>
                  <a:txBody>
                    <a:bodyPr/>
                    <a:lstStyle/>
                    <a:p>
                      <a:r>
                        <a:rPr lang="en-IN" sz="1200" dirty="0">
                          <a:latin typeface="+mn-lt"/>
                        </a:rPr>
                        <a:t>IRO Journals</a:t>
                      </a:r>
                    </a:p>
                  </a:txBody>
                  <a:tcPr anchor="ctr"/>
                </a:tc>
                <a:tc>
                  <a:txBody>
                    <a:bodyPr/>
                    <a:lstStyle/>
                    <a:p>
                      <a:r>
                        <a:rPr lang="en-IN" sz="1200" dirty="0">
                          <a:latin typeface="+mn-lt"/>
                        </a:rPr>
                        <a:t>2024</a:t>
                      </a:r>
                    </a:p>
                  </a:txBody>
                  <a:tcPr anchor="ctr"/>
                </a:tc>
                <a:extLst>
                  <a:ext uri="{0D108BD9-81ED-4DB2-BD59-A6C34878D82A}">
                    <a16:rowId xmlns:a16="http://schemas.microsoft.com/office/drawing/2014/main" val="2375340603"/>
                  </a:ext>
                </a:extLst>
              </a:tr>
            </a:tbl>
          </a:graphicData>
        </a:graphic>
      </p:graphicFrame>
    </p:spTree>
    <p:extLst>
      <p:ext uri="{BB962C8B-B14F-4D97-AF65-F5344CB8AC3E}">
        <p14:creationId xmlns:p14="http://schemas.microsoft.com/office/powerpoint/2010/main" val="633679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extLst>
              <p:ext uri="{D42A27DB-BD31-4B8C-83A1-F6EECF244321}">
                <p14:modId xmlns:p14="http://schemas.microsoft.com/office/powerpoint/2010/main" val="3031532376"/>
              </p:ext>
            </p:extLst>
          </p:nvPr>
        </p:nvGraphicFramePr>
        <p:xfrm>
          <a:off x="2886317" y="76134"/>
          <a:ext cx="6736390" cy="3489581"/>
        </p:xfrm>
        <a:graphic>
          <a:graphicData uri="http://schemas.openxmlformats.org/drawingml/2006/table">
            <a:tbl>
              <a:tblPr firstRow="1" bandRow="1">
                <a:tableStyleId>{C083E6E3-FA7D-4D7B-A595-EF9225AFEA82}</a:tableStyleId>
              </a:tblPr>
              <a:tblGrid>
                <a:gridCol w="1347278">
                  <a:extLst>
                    <a:ext uri="{9D8B030D-6E8A-4147-A177-3AD203B41FA5}">
                      <a16:colId xmlns:a16="http://schemas.microsoft.com/office/drawing/2014/main" val="4048653989"/>
                    </a:ext>
                  </a:extLst>
                </a:gridCol>
                <a:gridCol w="1347278">
                  <a:extLst>
                    <a:ext uri="{9D8B030D-6E8A-4147-A177-3AD203B41FA5}">
                      <a16:colId xmlns:a16="http://schemas.microsoft.com/office/drawing/2014/main" val="1073528508"/>
                    </a:ext>
                  </a:extLst>
                </a:gridCol>
                <a:gridCol w="1347278">
                  <a:extLst>
                    <a:ext uri="{9D8B030D-6E8A-4147-A177-3AD203B41FA5}">
                      <a16:colId xmlns:a16="http://schemas.microsoft.com/office/drawing/2014/main" val="3068757288"/>
                    </a:ext>
                  </a:extLst>
                </a:gridCol>
                <a:gridCol w="1322265">
                  <a:extLst>
                    <a:ext uri="{9D8B030D-6E8A-4147-A177-3AD203B41FA5}">
                      <a16:colId xmlns:a16="http://schemas.microsoft.com/office/drawing/2014/main" val="4153858823"/>
                    </a:ext>
                  </a:extLst>
                </a:gridCol>
                <a:gridCol w="1372291">
                  <a:extLst>
                    <a:ext uri="{9D8B030D-6E8A-4147-A177-3AD203B41FA5}">
                      <a16:colId xmlns:a16="http://schemas.microsoft.com/office/drawing/2014/main" val="1681505103"/>
                    </a:ext>
                  </a:extLst>
                </a:gridCol>
              </a:tblGrid>
              <a:tr h="688160">
                <a:tc>
                  <a:txBody>
                    <a:bodyPr/>
                    <a:lstStyle/>
                    <a:p>
                      <a:r>
                        <a:rPr lang="en-US" sz="1200" dirty="0"/>
                        <a:t>5.</a:t>
                      </a:r>
                      <a:endParaRPr lang="en-IN" sz="1200" dirty="0"/>
                    </a:p>
                  </a:txBody>
                  <a:tcPr/>
                </a:tc>
                <a:tc>
                  <a:txBody>
                    <a:bodyPr/>
                    <a:lstStyle/>
                    <a:p>
                      <a:r>
                        <a:rPr lang="en-US" sz="1200" b="0" dirty="0"/>
                        <a:t>IOT based Automatic Street Light Control</a:t>
                      </a:r>
                      <a:endParaRPr lang="en-IN" sz="1200" b="0" dirty="0"/>
                    </a:p>
                  </a:txBody>
                  <a:tcPr/>
                </a:tc>
                <a:tc>
                  <a:txBody>
                    <a:bodyPr/>
                    <a:lstStyle/>
                    <a:p>
                      <a:r>
                        <a:rPr lang="en-IN" sz="1200" b="0" dirty="0"/>
                        <a:t>R. S. Carlos &amp; </a:t>
                      </a:r>
                      <a:r>
                        <a:rPr lang="en-IN" sz="1200" b="0" dirty="0" err="1"/>
                        <a:t>Rumiasih</a:t>
                      </a:r>
                      <a:r>
                        <a:rPr lang="en-IN" sz="1200" b="0" dirty="0"/>
                        <a:t> </a:t>
                      </a:r>
                      <a:r>
                        <a:rPr lang="en-IN" sz="1200" b="0" dirty="0" err="1"/>
                        <a:t>Rumiasih</a:t>
                      </a:r>
                      <a:endParaRPr lang="en-IN" sz="1200" b="0" dirty="0"/>
                    </a:p>
                  </a:txBody>
                  <a:tcPr/>
                </a:tc>
                <a:tc>
                  <a:txBody>
                    <a:bodyPr/>
                    <a:lstStyle/>
                    <a:p>
                      <a:r>
                        <a:rPr lang="en-IN" sz="1200" b="0" dirty="0"/>
                        <a:t>Atlantis Press (Proceedings)</a:t>
                      </a:r>
                    </a:p>
                  </a:txBody>
                  <a:tcPr/>
                </a:tc>
                <a:tc>
                  <a:txBody>
                    <a:bodyPr/>
                    <a:lstStyle/>
                    <a:p>
                      <a:r>
                        <a:rPr lang="en-IN" sz="1200" b="0" dirty="0"/>
                        <a:t>2024</a:t>
                      </a:r>
                    </a:p>
                  </a:txBody>
                  <a:tcPr/>
                </a:tc>
                <a:extLst>
                  <a:ext uri="{0D108BD9-81ED-4DB2-BD59-A6C34878D82A}">
                    <a16:rowId xmlns:a16="http://schemas.microsoft.com/office/drawing/2014/main" val="4243665020"/>
                  </a:ext>
                </a:extLst>
              </a:tr>
              <a:tr h="1978461">
                <a:tc>
                  <a:txBody>
                    <a:bodyPr/>
                    <a:lstStyle/>
                    <a:p>
                      <a:r>
                        <a:rPr lang="en-US" sz="1200" dirty="0"/>
                        <a:t>6.</a:t>
                      </a:r>
                      <a:endParaRPr lang="en-IN" sz="1200" dirty="0"/>
                    </a:p>
                  </a:txBody>
                  <a:tcPr/>
                </a:tc>
                <a:tc>
                  <a:txBody>
                    <a:bodyPr/>
                    <a:lstStyle/>
                    <a:p>
                      <a:r>
                        <a:rPr lang="en-US" sz="1200" dirty="0"/>
                        <a:t>Smart Street Lighting System for Smart Cities Using IOT (</a:t>
                      </a:r>
                      <a:r>
                        <a:rPr lang="en-US" sz="1200" dirty="0" err="1"/>
                        <a:t>LoRa</a:t>
                      </a:r>
                      <a:r>
                        <a:rPr lang="en-US" sz="1200" dirty="0"/>
                        <a:t>)</a:t>
                      </a:r>
                      <a:endParaRPr lang="en-IN" sz="1200" dirty="0"/>
                    </a:p>
                  </a:txBody>
                  <a:tcPr/>
                </a:tc>
                <a:tc>
                  <a:txBody>
                    <a:bodyPr/>
                    <a:lstStyle/>
                    <a:p>
                      <a:r>
                        <a:rPr lang="en-IN" sz="1200" dirty="0"/>
                        <a:t>C. V. Suresh </a:t>
                      </a:r>
                      <a:r>
                        <a:rPr lang="en-IN" sz="1200" dirty="0" err="1"/>
                        <a:t>Babu</a:t>
                      </a:r>
                      <a:r>
                        <a:rPr lang="en-IN" sz="1200" dirty="0"/>
                        <a:t>, R. Monika, T. </a:t>
                      </a:r>
                      <a:r>
                        <a:rPr lang="en-IN" sz="1200" dirty="0" err="1"/>
                        <a:t>Dhanush</a:t>
                      </a:r>
                      <a:r>
                        <a:rPr lang="en-IN" sz="1200" dirty="0"/>
                        <a:t>, K. </a:t>
                      </a:r>
                      <a:r>
                        <a:rPr lang="en-IN" sz="1200" dirty="0" err="1"/>
                        <a:t>Vishnuvaradhan</a:t>
                      </a:r>
                      <a:endParaRPr lang="en-IN" sz="1200" dirty="0"/>
                    </a:p>
                  </a:txBody>
                  <a:tcPr/>
                </a:tc>
                <a:tc>
                  <a:txBody>
                    <a:bodyPr/>
                    <a:lstStyle/>
                    <a:p>
                      <a:r>
                        <a:rPr lang="en-US" sz="1200" dirty="0"/>
                        <a:t>IGI Global (in book </a:t>
                      </a:r>
                      <a:r>
                        <a:rPr lang="en-US" sz="1200" i="1" dirty="0"/>
                        <a:t>Effective AI, Block chain, and E-Governance Applications for Knowledge Discovery and Management</a:t>
                      </a:r>
                      <a:r>
                        <a:rPr lang="en-US" sz="1200" dirty="0"/>
                        <a:t>)</a:t>
                      </a:r>
                      <a:endParaRPr lang="en-IN" sz="1200" dirty="0"/>
                    </a:p>
                  </a:txBody>
                  <a:tcPr/>
                </a:tc>
                <a:tc>
                  <a:txBody>
                    <a:bodyPr/>
                    <a:lstStyle/>
                    <a:p>
                      <a:r>
                        <a:rPr lang="en-IN" sz="1200" dirty="0"/>
                        <a:t>2023</a:t>
                      </a:r>
                    </a:p>
                  </a:txBody>
                  <a:tcPr/>
                </a:tc>
                <a:extLst>
                  <a:ext uri="{0D108BD9-81ED-4DB2-BD59-A6C34878D82A}">
                    <a16:rowId xmlns:a16="http://schemas.microsoft.com/office/drawing/2014/main" val="3315551443"/>
                  </a:ext>
                </a:extLst>
              </a:tr>
              <a:tr h="817190">
                <a:tc>
                  <a:txBody>
                    <a:bodyPr/>
                    <a:lstStyle/>
                    <a:p>
                      <a:r>
                        <a:rPr lang="en-US" sz="1200" dirty="0"/>
                        <a:t>7.</a:t>
                      </a:r>
                      <a:endParaRPr lang="en-IN" sz="1200" dirty="0"/>
                    </a:p>
                  </a:txBody>
                  <a:tcPr/>
                </a:tc>
                <a:tc>
                  <a:txBody>
                    <a:bodyPr/>
                    <a:lstStyle/>
                    <a:p>
                      <a:r>
                        <a:rPr lang="en-US" sz="1200" dirty="0"/>
                        <a:t>LDR and IR Based Automatic Street Light Controller</a:t>
                      </a:r>
                      <a:endParaRPr lang="en-IN" sz="1200" dirty="0"/>
                    </a:p>
                  </a:txBody>
                  <a:tcPr/>
                </a:tc>
                <a:tc>
                  <a:txBody>
                    <a:bodyPr/>
                    <a:lstStyle/>
                    <a:p>
                      <a:r>
                        <a:rPr lang="en-US" sz="1200" dirty="0"/>
                        <a:t>------</a:t>
                      </a:r>
                      <a:endParaRPr lang="en-IN" sz="1200" dirty="0"/>
                    </a:p>
                  </a:txBody>
                  <a:tcPr/>
                </a:tc>
                <a:tc>
                  <a:txBody>
                    <a:bodyPr/>
                    <a:lstStyle/>
                    <a:p>
                      <a:r>
                        <a:rPr lang="en-US" sz="1200" dirty="0"/>
                        <a:t>IIP Series (Volume 3, Book 3)</a:t>
                      </a:r>
                      <a:endParaRPr lang="en-IN" sz="1200" dirty="0"/>
                    </a:p>
                  </a:txBody>
                  <a:tcPr/>
                </a:tc>
                <a:tc>
                  <a:txBody>
                    <a:bodyPr/>
                    <a:lstStyle/>
                    <a:p>
                      <a:r>
                        <a:rPr lang="en-IN" sz="1200" dirty="0"/>
                        <a:t>2024</a:t>
                      </a:r>
                    </a:p>
                  </a:txBody>
                  <a:tcPr/>
                </a:tc>
                <a:extLst>
                  <a:ext uri="{0D108BD9-81ED-4DB2-BD59-A6C34878D82A}">
                    <a16:rowId xmlns:a16="http://schemas.microsoft.com/office/drawing/2014/main" val="86510725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81525732"/>
              </p:ext>
            </p:extLst>
          </p:nvPr>
        </p:nvGraphicFramePr>
        <p:xfrm>
          <a:off x="2886317" y="3565715"/>
          <a:ext cx="6736390" cy="3227196"/>
        </p:xfrm>
        <a:graphic>
          <a:graphicData uri="http://schemas.openxmlformats.org/drawingml/2006/table">
            <a:tbl>
              <a:tblPr firstRow="1" bandRow="1">
                <a:tableStyleId>{C083E6E3-FA7D-4D7B-A595-EF9225AFEA82}</a:tableStyleId>
              </a:tblPr>
              <a:tblGrid>
                <a:gridCol w="1347278">
                  <a:extLst>
                    <a:ext uri="{9D8B030D-6E8A-4147-A177-3AD203B41FA5}">
                      <a16:colId xmlns:a16="http://schemas.microsoft.com/office/drawing/2014/main" val="4041843816"/>
                    </a:ext>
                  </a:extLst>
                </a:gridCol>
                <a:gridCol w="1347278">
                  <a:extLst>
                    <a:ext uri="{9D8B030D-6E8A-4147-A177-3AD203B41FA5}">
                      <a16:colId xmlns:a16="http://schemas.microsoft.com/office/drawing/2014/main" val="3798782474"/>
                    </a:ext>
                  </a:extLst>
                </a:gridCol>
                <a:gridCol w="1347278">
                  <a:extLst>
                    <a:ext uri="{9D8B030D-6E8A-4147-A177-3AD203B41FA5}">
                      <a16:colId xmlns:a16="http://schemas.microsoft.com/office/drawing/2014/main" val="2917549931"/>
                    </a:ext>
                  </a:extLst>
                </a:gridCol>
                <a:gridCol w="1347278">
                  <a:extLst>
                    <a:ext uri="{9D8B030D-6E8A-4147-A177-3AD203B41FA5}">
                      <a16:colId xmlns:a16="http://schemas.microsoft.com/office/drawing/2014/main" val="1664226513"/>
                    </a:ext>
                  </a:extLst>
                </a:gridCol>
                <a:gridCol w="1347278">
                  <a:extLst>
                    <a:ext uri="{9D8B030D-6E8A-4147-A177-3AD203B41FA5}">
                      <a16:colId xmlns:a16="http://schemas.microsoft.com/office/drawing/2014/main" val="3673115608"/>
                    </a:ext>
                  </a:extLst>
                </a:gridCol>
              </a:tblGrid>
              <a:tr h="1215516">
                <a:tc>
                  <a:txBody>
                    <a:bodyPr/>
                    <a:lstStyle/>
                    <a:p>
                      <a:r>
                        <a:rPr lang="en-US" sz="1200" dirty="0"/>
                        <a:t>8.</a:t>
                      </a:r>
                      <a:endParaRPr lang="en-IN" sz="1200" dirty="0"/>
                    </a:p>
                  </a:txBody>
                  <a:tcPr/>
                </a:tc>
                <a:tc>
                  <a:txBody>
                    <a:bodyPr/>
                    <a:lstStyle/>
                    <a:p>
                      <a:r>
                        <a:rPr lang="en-US" sz="1200" b="0" dirty="0" err="1"/>
                        <a:t>IoT</a:t>
                      </a:r>
                      <a:r>
                        <a:rPr lang="en-US" sz="1200" b="0" dirty="0"/>
                        <a:t> Based Smart Street Light</a:t>
                      </a:r>
                      <a:endParaRPr lang="en-IN" sz="1200" b="0" dirty="0"/>
                    </a:p>
                  </a:txBody>
                  <a:tcPr/>
                </a:tc>
                <a:tc>
                  <a:txBody>
                    <a:bodyPr/>
                    <a:lstStyle/>
                    <a:p>
                      <a:r>
                        <a:rPr lang="it-IT" sz="1200" b="0" dirty="0"/>
                        <a:t>M. R. Rashmi &amp; H. Padma</a:t>
                      </a:r>
                      <a:endParaRPr lang="en-IN" sz="1200" b="0" dirty="0"/>
                    </a:p>
                  </a:txBody>
                  <a:tcPr/>
                </a:tc>
                <a:tc>
                  <a:txBody>
                    <a:bodyPr/>
                    <a:lstStyle/>
                    <a:p>
                      <a:r>
                        <a:rPr lang="en-US" sz="1200" b="0" dirty="0"/>
                        <a:t>International Journal of Recent Advances in Multidisciplinary Topics</a:t>
                      </a:r>
                      <a:endParaRPr lang="en-IN" sz="1200" b="0" dirty="0"/>
                    </a:p>
                  </a:txBody>
                  <a:tcPr/>
                </a:tc>
                <a:tc>
                  <a:txBody>
                    <a:bodyPr/>
                    <a:lstStyle/>
                    <a:p>
                      <a:r>
                        <a:rPr lang="en-IN" sz="1200" b="0" dirty="0"/>
                        <a:t>2021</a:t>
                      </a:r>
                    </a:p>
                  </a:txBody>
                  <a:tcPr/>
                </a:tc>
                <a:extLst>
                  <a:ext uri="{0D108BD9-81ED-4DB2-BD59-A6C34878D82A}">
                    <a16:rowId xmlns:a16="http://schemas.microsoft.com/office/drawing/2014/main" val="3640311785"/>
                  </a:ext>
                </a:extLst>
              </a:tr>
              <a:tr h="994512">
                <a:tc>
                  <a:txBody>
                    <a:bodyPr/>
                    <a:lstStyle/>
                    <a:p>
                      <a:r>
                        <a:rPr lang="en-US" sz="1200" dirty="0"/>
                        <a:t>9.</a:t>
                      </a:r>
                    </a:p>
                    <a:p>
                      <a:endParaRPr lang="en-IN" sz="1200" dirty="0"/>
                    </a:p>
                  </a:txBody>
                  <a:tcPr/>
                </a:tc>
                <a:tc>
                  <a:txBody>
                    <a:bodyPr/>
                    <a:lstStyle/>
                    <a:p>
                      <a:r>
                        <a:rPr lang="en-US" sz="1200" dirty="0"/>
                        <a:t>Smart Automated Highway Lighting System using </a:t>
                      </a:r>
                      <a:r>
                        <a:rPr lang="en-US" sz="1200" dirty="0" err="1"/>
                        <a:t>IoT</a:t>
                      </a:r>
                      <a:r>
                        <a:rPr lang="en-US" sz="1200" dirty="0"/>
                        <a:t>: A Survey</a:t>
                      </a:r>
                      <a:endParaRPr lang="en-IN" sz="1200" dirty="0"/>
                    </a:p>
                  </a:txBody>
                  <a:tcPr/>
                </a:tc>
                <a:tc>
                  <a:txBody>
                    <a:bodyPr/>
                    <a:lstStyle/>
                    <a:p>
                      <a:r>
                        <a:rPr lang="en-IN" sz="1200" dirty="0"/>
                        <a:t>(Not full book)</a:t>
                      </a:r>
                    </a:p>
                  </a:txBody>
                  <a:tcPr/>
                </a:tc>
                <a:tc>
                  <a:txBody>
                    <a:bodyPr/>
                    <a:lstStyle/>
                    <a:p>
                      <a:r>
                        <a:rPr lang="en-IN" sz="1200" dirty="0"/>
                        <a:t>Energy Informatics / </a:t>
                      </a:r>
                      <a:r>
                        <a:rPr lang="en-IN" sz="1200" dirty="0" err="1"/>
                        <a:t>SpringerOpen</a:t>
                      </a:r>
                      <a:endParaRPr lang="en-IN" sz="1200" dirty="0"/>
                    </a:p>
                  </a:txBody>
                  <a:tcPr/>
                </a:tc>
                <a:tc>
                  <a:txBody>
                    <a:bodyPr/>
                    <a:lstStyle/>
                    <a:p>
                      <a:r>
                        <a:rPr lang="en-IN" sz="1200" dirty="0"/>
                        <a:t>2024 </a:t>
                      </a:r>
                    </a:p>
                  </a:txBody>
                  <a:tcPr/>
                </a:tc>
                <a:extLst>
                  <a:ext uri="{0D108BD9-81ED-4DB2-BD59-A6C34878D82A}">
                    <a16:rowId xmlns:a16="http://schemas.microsoft.com/office/drawing/2014/main" val="958902138"/>
                  </a:ext>
                </a:extLst>
              </a:tr>
              <a:tr h="994512">
                <a:tc>
                  <a:txBody>
                    <a:bodyPr/>
                    <a:lstStyle/>
                    <a:p>
                      <a:r>
                        <a:rPr lang="en-US" sz="1200" dirty="0"/>
                        <a:t>10</a:t>
                      </a:r>
                      <a:endParaRPr lang="en-IN" sz="1200" dirty="0"/>
                    </a:p>
                  </a:txBody>
                  <a:tcPr/>
                </a:tc>
                <a:tc>
                  <a:txBody>
                    <a:bodyPr/>
                    <a:lstStyle/>
                    <a:p>
                      <a:r>
                        <a:rPr lang="en-US" sz="1200" dirty="0" err="1"/>
                        <a:t>IoT</a:t>
                      </a:r>
                      <a:r>
                        <a:rPr lang="en-US" sz="1200" dirty="0"/>
                        <a:t> Based Street Light Auto Intensity Control and Fault Detection</a:t>
                      </a:r>
                      <a:endParaRPr lang="en-IN" sz="1200" dirty="0"/>
                    </a:p>
                  </a:txBody>
                  <a:tcPr/>
                </a:tc>
                <a:tc>
                  <a:txBody>
                    <a:bodyPr/>
                    <a:lstStyle/>
                    <a:p>
                      <a:r>
                        <a:rPr lang="en-IN" sz="1200" dirty="0" err="1"/>
                        <a:t>Sampath</a:t>
                      </a:r>
                      <a:r>
                        <a:rPr lang="en-IN" sz="1200" dirty="0"/>
                        <a:t> Kumar </a:t>
                      </a:r>
                      <a:r>
                        <a:rPr lang="en-IN" sz="1200" dirty="0" err="1"/>
                        <a:t>Pappula</a:t>
                      </a:r>
                      <a:r>
                        <a:rPr lang="en-IN" sz="1200" dirty="0"/>
                        <a:t> &amp; Lakshmi </a:t>
                      </a:r>
                      <a:r>
                        <a:rPr lang="en-IN" sz="1200" dirty="0" err="1"/>
                        <a:t>Lavanya</a:t>
                      </a:r>
                      <a:r>
                        <a:rPr lang="en-IN" sz="1200" dirty="0"/>
                        <a:t> </a:t>
                      </a:r>
                      <a:r>
                        <a:rPr lang="en-IN" sz="1200" dirty="0" err="1"/>
                        <a:t>Eemani</a:t>
                      </a:r>
                      <a:endParaRPr lang="en-IN" sz="1200" dirty="0"/>
                    </a:p>
                  </a:txBody>
                  <a:tcPr/>
                </a:tc>
                <a:tc>
                  <a:txBody>
                    <a:bodyPr/>
                    <a:lstStyle/>
                    <a:p>
                      <a:r>
                        <a:rPr lang="en-IN" sz="1200" dirty="0"/>
                        <a:t>JERT</a:t>
                      </a:r>
                    </a:p>
                  </a:txBody>
                  <a:tcPr/>
                </a:tc>
                <a:tc>
                  <a:txBody>
                    <a:bodyPr/>
                    <a:lstStyle/>
                    <a:p>
                      <a:r>
                        <a:rPr lang="en-IN" sz="1200" dirty="0"/>
                        <a:t>2022</a:t>
                      </a:r>
                    </a:p>
                  </a:txBody>
                  <a:tcPr/>
                </a:tc>
                <a:extLst>
                  <a:ext uri="{0D108BD9-81ED-4DB2-BD59-A6C34878D82A}">
                    <a16:rowId xmlns:a16="http://schemas.microsoft.com/office/drawing/2014/main" val="3246502594"/>
                  </a:ext>
                </a:extLst>
              </a:tr>
            </a:tbl>
          </a:graphicData>
        </a:graphic>
      </p:graphicFrame>
    </p:spTree>
    <p:extLst>
      <p:ext uri="{BB962C8B-B14F-4D97-AF65-F5344CB8AC3E}">
        <p14:creationId xmlns:p14="http://schemas.microsoft.com/office/powerpoint/2010/main" val="2264794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1D2D7-DC77-9F42-3904-14D36D40B4D3}"/>
              </a:ext>
            </a:extLst>
          </p:cNvPr>
          <p:cNvSpPr>
            <a:spLocks noGrp="1"/>
          </p:cNvSpPr>
          <p:nvPr>
            <p:ph type="title"/>
          </p:nvPr>
        </p:nvSpPr>
        <p:spPr>
          <a:xfrm>
            <a:off x="548122" y="449931"/>
            <a:ext cx="10761108" cy="810883"/>
          </a:xfrm>
        </p:spPr>
        <p:txBody>
          <a:bodyPr/>
          <a:lstStyle/>
          <a:p>
            <a:pPr algn="ctr"/>
            <a:r>
              <a:rPr lang="en-US" sz="4800" dirty="0">
                <a:latin typeface="Bell MT" panose="02020503060305020303" pitchFamily="18" charset="0"/>
              </a:rPr>
              <a:t>PROBLEM STATEMENT</a:t>
            </a:r>
            <a:endParaRPr lang="en-IN" sz="4800" dirty="0">
              <a:latin typeface="Bell MT" panose="02020503060305020303" pitchFamily="18" charset="0"/>
            </a:endParaRPr>
          </a:p>
        </p:txBody>
      </p:sp>
      <p:sp>
        <p:nvSpPr>
          <p:cNvPr id="7" name="Rectangle 1">
            <a:extLst>
              <a:ext uri="{FF2B5EF4-FFF2-40B4-BE49-F238E27FC236}">
                <a16:creationId xmlns:a16="http://schemas.microsoft.com/office/drawing/2014/main" id="{579A42C0-F13F-F42C-950C-614A0F302421}"/>
              </a:ext>
            </a:extLst>
          </p:cNvPr>
          <p:cNvSpPr>
            <a:spLocks noGrp="1" noChangeArrowheads="1"/>
          </p:cNvSpPr>
          <p:nvPr>
            <p:ph sz="half" idx="1"/>
          </p:nvPr>
        </p:nvSpPr>
        <p:spPr bwMode="auto">
          <a:xfrm>
            <a:off x="1380227" y="1429490"/>
            <a:ext cx="9929003"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dirty="0">
                <a:solidFill>
                  <a:schemeClr val="tx1"/>
                </a:solidFill>
              </a:rPr>
              <a:t>The cost of IOT devices and setup is high compared to normal lights.</a:t>
            </a:r>
          </a:p>
          <a:p>
            <a:pPr marL="0" indent="0" eaLnBrk="0" fontAlgn="base" hangingPunct="0">
              <a:spcBef>
                <a:spcPct val="0"/>
              </a:spcBef>
              <a:spcAft>
                <a:spcPct val="0"/>
              </a:spcAft>
              <a:buNone/>
            </a:pPr>
            <a:endParaRPr lang="en-US" altLang="en-US" dirty="0">
              <a:solidFill>
                <a:schemeClr val="tx1"/>
              </a:solidFill>
            </a:endParaRPr>
          </a:p>
          <a:p>
            <a:pPr eaLnBrk="0" fontAlgn="base" hangingPunct="0">
              <a:spcBef>
                <a:spcPct val="0"/>
              </a:spcBef>
              <a:spcAft>
                <a:spcPct val="0"/>
              </a:spcAft>
            </a:pPr>
            <a:r>
              <a:rPr lang="en-US" altLang="en-US" dirty="0">
                <a:solidFill>
                  <a:schemeClr val="tx1"/>
                </a:solidFill>
              </a:rPr>
              <a:t> Sensors and devices need regular maintenance for proper working.</a:t>
            </a:r>
          </a:p>
          <a:p>
            <a:pPr eaLnBrk="0" fontAlgn="base" hangingPunct="0">
              <a:spcBef>
                <a:spcPct val="0"/>
              </a:spcBef>
              <a:spcAft>
                <a:spcPct val="0"/>
              </a:spcAft>
            </a:pPr>
            <a:endParaRPr lang="en-US" altLang="en-US" dirty="0">
              <a:solidFill>
                <a:schemeClr val="tx1"/>
              </a:solidFill>
            </a:endParaRPr>
          </a:p>
          <a:p>
            <a:pPr eaLnBrk="0" fontAlgn="base" hangingPunct="0">
              <a:spcBef>
                <a:spcPct val="0"/>
              </a:spcBef>
              <a:spcAft>
                <a:spcPct val="0"/>
              </a:spcAft>
            </a:pPr>
            <a:r>
              <a:rPr lang="en-US" altLang="en-US" dirty="0">
                <a:solidFill>
                  <a:schemeClr val="tx1"/>
                </a:solidFill>
              </a:rPr>
              <a:t> The whole system depends on a stable internet connection.</a:t>
            </a:r>
          </a:p>
          <a:p>
            <a:pPr eaLnBrk="0" fontAlgn="base" hangingPunct="0">
              <a:spcBef>
                <a:spcPct val="0"/>
              </a:spcBef>
              <a:spcAft>
                <a:spcPct val="0"/>
              </a:spcAft>
            </a:pPr>
            <a:endParaRPr lang="en-US" altLang="en-US" dirty="0">
              <a:solidFill>
                <a:schemeClr val="tx1"/>
              </a:solidFill>
            </a:endParaRPr>
          </a:p>
          <a:p>
            <a:pPr eaLnBrk="0" fontAlgn="base" hangingPunct="0">
              <a:spcBef>
                <a:spcPct val="0"/>
              </a:spcBef>
              <a:spcAft>
                <a:spcPct val="0"/>
              </a:spcAft>
            </a:pPr>
            <a:r>
              <a:rPr lang="en-US" altLang="en-US" dirty="0">
                <a:solidFill>
                  <a:schemeClr val="tx1"/>
                </a:solidFill>
              </a:rPr>
              <a:t> Power cuts or fluctuations can affect its performance.</a:t>
            </a:r>
          </a:p>
          <a:p>
            <a:pPr marL="0" indent="0" eaLnBrk="0" fontAlgn="base" hangingPunct="0">
              <a:spcBef>
                <a:spcPct val="0"/>
              </a:spcBef>
              <a:spcAft>
                <a:spcPct val="0"/>
              </a:spcAft>
              <a:buNone/>
            </a:pPr>
            <a:endParaRPr lang="en-US" altLang="en-US" dirty="0">
              <a:solidFill>
                <a:schemeClr val="tx1"/>
              </a:solidFill>
            </a:endParaRPr>
          </a:p>
          <a:p>
            <a:pPr marL="285750" indent="-285750"/>
            <a:r>
              <a:rPr lang="en-US" dirty="0">
                <a:solidFill>
                  <a:schemeClr val="tx1"/>
                </a:solidFill>
              </a:rPr>
              <a:t>Handling and </a:t>
            </a:r>
            <a:r>
              <a:rPr lang="en-US" dirty="0" err="1">
                <a:solidFill>
                  <a:schemeClr val="tx1"/>
                </a:solidFill>
              </a:rPr>
              <a:t>analysing</a:t>
            </a:r>
            <a:r>
              <a:rPr lang="en-US" dirty="0">
                <a:solidFill>
                  <a:schemeClr val="tx1"/>
                </a:solidFill>
              </a:rPr>
              <a:t> large amounts of data is difficult.</a:t>
            </a:r>
          </a:p>
          <a:p>
            <a:pPr marL="285750" indent="-285750"/>
            <a:endParaRPr lang="en-US" dirty="0">
              <a:solidFill>
                <a:schemeClr val="tx1"/>
              </a:solidFill>
            </a:endParaRPr>
          </a:p>
          <a:p>
            <a:pPr marL="285750" indent="-285750"/>
            <a:r>
              <a:rPr lang="en-US" dirty="0">
                <a:solidFill>
                  <a:schemeClr val="tx1"/>
                </a:solidFill>
              </a:rPr>
              <a:t> Communication range is limited in some IOT networks.</a:t>
            </a:r>
          </a:p>
          <a:p>
            <a:endParaRPr lang="en-US" dirty="0">
              <a:solidFill>
                <a:schemeClr val="tx1"/>
              </a:solidFill>
            </a:endParaRPr>
          </a:p>
          <a:p>
            <a:pPr marL="285750" indent="-285750"/>
            <a:r>
              <a:rPr lang="en-US" dirty="0">
                <a:solidFill>
                  <a:schemeClr val="tx1"/>
                </a:solidFill>
              </a:rPr>
              <a:t>Sensors may get damaged due to dust, rain, or weather conditions.</a:t>
            </a:r>
          </a:p>
          <a:p>
            <a:pPr marL="285750" indent="-285750"/>
            <a:endParaRPr lang="en-US" dirty="0">
              <a:solidFill>
                <a:schemeClr val="tx1"/>
              </a:solidFill>
            </a:endParaRPr>
          </a:p>
          <a:p>
            <a:pPr marL="285750" indent="-285750"/>
            <a:r>
              <a:rPr lang="en-US" dirty="0">
                <a:solidFill>
                  <a:schemeClr val="tx1"/>
                </a:solidFill>
              </a:rPr>
              <a:t> Connecting IOT systems with old lighting systems is hard.</a:t>
            </a:r>
          </a:p>
          <a:p>
            <a:pPr marL="285750" indent="-285750"/>
            <a:endParaRPr lang="en-US" dirty="0">
              <a:solidFill>
                <a:schemeClr val="tx1"/>
              </a:solidFill>
            </a:endParaRPr>
          </a:p>
          <a:p>
            <a:pPr marL="285750" indent="-285750"/>
            <a:r>
              <a:rPr lang="en-US" dirty="0">
                <a:solidFill>
                  <a:schemeClr val="tx1"/>
                </a:solidFill>
              </a:rPr>
              <a:t> Faults in lights or sensors are not detected immediately</a:t>
            </a:r>
            <a:r>
              <a:rPr lang="en-US" sz="2000" dirty="0">
                <a:solidFill>
                  <a:schemeClr val="tx1"/>
                </a:solidFill>
              </a:rPr>
              <a:t>.</a:t>
            </a:r>
            <a:endParaRPr lang="en-IN" sz="2000" dirty="0">
              <a:solidFill>
                <a:schemeClr val="tx1"/>
              </a:solidFill>
            </a:endParaRPr>
          </a:p>
          <a:p>
            <a:pPr eaLnBrk="0" fontAlgn="base" hangingPunct="0">
              <a:spcBef>
                <a:spcPct val="0"/>
              </a:spcBef>
              <a:spcAft>
                <a:spcPct val="0"/>
              </a:spcAft>
            </a:pPr>
            <a:endParaRPr lang="en-US" altLang="en-US" sz="2000" dirty="0">
              <a:solidFill>
                <a:schemeClr val="tx1"/>
              </a:solidFill>
            </a:endParaRPr>
          </a:p>
        </p:txBody>
      </p:sp>
    </p:spTree>
    <p:extLst>
      <p:ext uri="{BB962C8B-B14F-4D97-AF65-F5344CB8AC3E}">
        <p14:creationId xmlns:p14="http://schemas.microsoft.com/office/powerpoint/2010/main" val="3645515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39260-3F94-D383-C6BB-8158B62ECE64}"/>
              </a:ext>
            </a:extLst>
          </p:cNvPr>
          <p:cNvSpPr>
            <a:spLocks noGrp="1"/>
          </p:cNvSpPr>
          <p:nvPr>
            <p:ph type="title"/>
          </p:nvPr>
        </p:nvSpPr>
        <p:spPr>
          <a:xfrm>
            <a:off x="715993" y="948238"/>
            <a:ext cx="11257471" cy="742973"/>
          </a:xfrm>
        </p:spPr>
        <p:txBody>
          <a:bodyPr/>
          <a:lstStyle/>
          <a:p>
            <a:r>
              <a:rPr lang="en-US" sz="2800" dirty="0">
                <a:latin typeface="Bell MT" panose="02020503060305020303" pitchFamily="18" charset="0"/>
              </a:rPr>
              <a:t>Proposed Solutions for Smart Street Light Systems</a:t>
            </a:r>
            <a:endParaRPr lang="en-IN" sz="2800" dirty="0">
              <a:latin typeface="Bell MT" panose="02020503060305020303" pitchFamily="18" charset="0"/>
            </a:endParaRPr>
          </a:p>
        </p:txBody>
      </p:sp>
      <p:sp>
        <p:nvSpPr>
          <p:cNvPr id="6" name="Rectangle 1">
            <a:extLst>
              <a:ext uri="{FF2B5EF4-FFF2-40B4-BE49-F238E27FC236}">
                <a16:creationId xmlns:a16="http://schemas.microsoft.com/office/drawing/2014/main" id="{AAB1C25C-2B7E-786A-36FB-A9821AAECDDB}"/>
              </a:ext>
            </a:extLst>
          </p:cNvPr>
          <p:cNvSpPr>
            <a:spLocks noGrp="1" noChangeArrowheads="1"/>
          </p:cNvSpPr>
          <p:nvPr>
            <p:ph sz="half" idx="15"/>
          </p:nvPr>
        </p:nvSpPr>
        <p:spPr bwMode="auto">
          <a:xfrm>
            <a:off x="992037" y="2572375"/>
            <a:ext cx="1098142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dirty="0">
                <a:solidFill>
                  <a:schemeClr val="tx1"/>
                </a:solidFill>
                <a:latin typeface="Book Antiqua" panose="02040602050305030304" pitchFamily="18" charset="0"/>
              </a:rPr>
              <a:t>Use LDR sensors to detect daylight and switch lights OFF when there is enough natural light.</a:t>
            </a:r>
          </a:p>
          <a:p>
            <a:pPr eaLnBrk="0" fontAlgn="base" hangingPunct="0">
              <a:spcBef>
                <a:spcPct val="0"/>
              </a:spcBef>
              <a:spcAft>
                <a:spcPct val="0"/>
              </a:spcAft>
            </a:pPr>
            <a:endParaRPr lang="en-US" altLang="en-US" dirty="0">
              <a:solidFill>
                <a:schemeClr val="tx1"/>
              </a:solidFill>
              <a:latin typeface="Book Antiqua" panose="02040602050305030304" pitchFamily="18" charset="0"/>
            </a:endParaRPr>
          </a:p>
          <a:p>
            <a:pPr eaLnBrk="0" fontAlgn="base" hangingPunct="0">
              <a:spcBef>
                <a:spcPct val="0"/>
              </a:spcBef>
              <a:spcAft>
                <a:spcPct val="0"/>
              </a:spcAft>
            </a:pPr>
            <a:r>
              <a:rPr lang="en-US" altLang="en-US" dirty="0">
                <a:solidFill>
                  <a:schemeClr val="tx1"/>
                </a:solidFill>
                <a:latin typeface="Book Antiqua" panose="02040602050305030304" pitchFamily="18" charset="0"/>
              </a:rPr>
              <a:t>Lights automatically turn ON at night or in low-light conditions.</a:t>
            </a:r>
          </a:p>
          <a:p>
            <a:pPr eaLnBrk="0" fontAlgn="base" hangingPunct="0">
              <a:spcBef>
                <a:spcPct val="0"/>
              </a:spcBef>
              <a:spcAft>
                <a:spcPct val="0"/>
              </a:spcAft>
            </a:pPr>
            <a:endParaRPr lang="en-US" altLang="en-US" dirty="0">
              <a:solidFill>
                <a:schemeClr val="tx1"/>
              </a:solidFill>
              <a:latin typeface="Book Antiqua" panose="02040602050305030304" pitchFamily="18" charset="0"/>
            </a:endParaRPr>
          </a:p>
          <a:p>
            <a:pPr eaLnBrk="0" fontAlgn="base" hangingPunct="0">
              <a:spcBef>
                <a:spcPct val="0"/>
              </a:spcBef>
              <a:spcAft>
                <a:spcPct val="0"/>
              </a:spcAft>
            </a:pPr>
            <a:r>
              <a:rPr lang="en-US" altLang="en-US" dirty="0">
                <a:solidFill>
                  <a:schemeClr val="tx1"/>
                </a:solidFill>
                <a:latin typeface="Book Antiqua" panose="02040602050305030304" pitchFamily="18" charset="0"/>
              </a:rPr>
              <a:t>Use IR or motion sensors to detect vehicles or people and turn lights ON only when needed.</a:t>
            </a:r>
          </a:p>
          <a:p>
            <a:pPr eaLnBrk="0" fontAlgn="base" hangingPunct="0">
              <a:spcBef>
                <a:spcPct val="0"/>
              </a:spcBef>
              <a:spcAft>
                <a:spcPct val="0"/>
              </a:spcAft>
            </a:pPr>
            <a:endParaRPr lang="en-US" altLang="en-US" dirty="0">
              <a:solidFill>
                <a:schemeClr val="tx1"/>
              </a:solidFill>
              <a:latin typeface="Book Antiqua" panose="02040602050305030304" pitchFamily="18" charset="0"/>
            </a:endParaRPr>
          </a:p>
          <a:p>
            <a:pPr eaLnBrk="0" fontAlgn="base" hangingPunct="0">
              <a:spcBef>
                <a:spcPct val="0"/>
              </a:spcBef>
              <a:spcAft>
                <a:spcPct val="0"/>
              </a:spcAft>
            </a:pPr>
            <a:r>
              <a:rPr lang="en-US" altLang="en-US" dirty="0">
                <a:solidFill>
                  <a:schemeClr val="tx1"/>
                </a:solidFill>
                <a:latin typeface="Book Antiqua" panose="02040602050305030304" pitchFamily="18" charset="0"/>
              </a:rPr>
              <a:t>The whole system can be remotely monitored and controlled through an IoT platform.</a:t>
            </a:r>
          </a:p>
          <a:p>
            <a:pPr eaLnBrk="0" fontAlgn="base" hangingPunct="0">
              <a:spcBef>
                <a:spcPct val="0"/>
              </a:spcBef>
              <a:spcAft>
                <a:spcPct val="0"/>
              </a:spcAft>
            </a:pPr>
            <a:endParaRPr lang="en-US" altLang="en-US" dirty="0">
              <a:solidFill>
                <a:schemeClr val="tx1"/>
              </a:solidFill>
              <a:latin typeface="Book Antiqua" panose="02040602050305030304" pitchFamily="18" charset="0"/>
            </a:endParaRPr>
          </a:p>
          <a:p>
            <a:pPr eaLnBrk="0" fontAlgn="base" hangingPunct="0">
              <a:spcBef>
                <a:spcPct val="0"/>
              </a:spcBef>
              <a:spcAft>
                <a:spcPct val="0"/>
              </a:spcAft>
            </a:pPr>
            <a:r>
              <a:rPr lang="en-US" altLang="en-US" dirty="0">
                <a:solidFill>
                  <a:schemeClr val="tx1"/>
                </a:solidFill>
                <a:latin typeface="Book Antiqua" panose="02040602050305030304" pitchFamily="18" charset="0"/>
              </a:rPr>
              <a:t>This helps save electricity, reduce maintenance costs, and improve road safety.</a:t>
            </a:r>
          </a:p>
          <a:p>
            <a:pPr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Book Antiqua" panose="0204060205030503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9879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704D-77C5-0B75-42C1-B5274A1A3343}"/>
              </a:ext>
            </a:extLst>
          </p:cNvPr>
          <p:cNvSpPr>
            <a:spLocks noGrp="1"/>
          </p:cNvSpPr>
          <p:nvPr>
            <p:ph type="ctrTitle"/>
          </p:nvPr>
        </p:nvSpPr>
        <p:spPr>
          <a:xfrm>
            <a:off x="167748" y="378438"/>
            <a:ext cx="5715000" cy="692147"/>
          </a:xfrm>
        </p:spPr>
        <p:txBody>
          <a:bodyPr/>
          <a:lstStyle/>
          <a:p>
            <a:r>
              <a:rPr lang="en-US" dirty="0">
                <a:latin typeface="Bell MT" panose="02020503060305020303" pitchFamily="18" charset="0"/>
              </a:rPr>
              <a:t>FUTURE SCOPE </a:t>
            </a:r>
            <a:endParaRPr lang="en-IN" dirty="0">
              <a:latin typeface="Bell MT" panose="02020503060305020303" pitchFamily="18" charset="0"/>
            </a:endParaRPr>
          </a:p>
        </p:txBody>
      </p:sp>
      <p:sp>
        <p:nvSpPr>
          <p:cNvPr id="7" name="Rectangle 3">
            <a:extLst>
              <a:ext uri="{FF2B5EF4-FFF2-40B4-BE49-F238E27FC236}">
                <a16:creationId xmlns:a16="http://schemas.microsoft.com/office/drawing/2014/main" id="{25B219C8-FD28-2C25-03AC-8FC8D06A614D}"/>
              </a:ext>
            </a:extLst>
          </p:cNvPr>
          <p:cNvSpPr>
            <a:spLocks noGrp="1" noChangeArrowheads="1"/>
          </p:cNvSpPr>
          <p:nvPr>
            <p:ph type="subTitle" idx="1"/>
          </p:nvPr>
        </p:nvSpPr>
        <p:spPr bwMode="auto">
          <a:xfrm>
            <a:off x="914400" y="2136338"/>
            <a:ext cx="51816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Smart city street lighting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Highways and expressways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Rural and remote roads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Parking lots and campuses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Industrial zones and warehouses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Residential colonies and housing societies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Parks, footpaths, and public spaces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Smart transportation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Airport runways and railway platforms</a:t>
            </a:r>
          </a:p>
        </p:txBody>
      </p:sp>
    </p:spTree>
    <p:extLst>
      <p:ext uri="{BB962C8B-B14F-4D97-AF65-F5344CB8AC3E}">
        <p14:creationId xmlns:p14="http://schemas.microsoft.com/office/powerpoint/2010/main" val="130521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439E70CA-1D2D-C5F9-64EF-937CD34A5E4C}"/>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0" y="1"/>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1BD7604-67CF-C188-17ED-7E9814CC2061}"/>
              </a:ext>
            </a:extLst>
          </p:cNvPr>
          <p:cNvSpPr>
            <a:spLocks noGrp="1"/>
          </p:cNvSpPr>
          <p:nvPr>
            <p:ph type="title"/>
          </p:nvPr>
        </p:nvSpPr>
        <p:spPr>
          <a:xfrm>
            <a:off x="914400" y="692943"/>
            <a:ext cx="10511627" cy="1012785"/>
          </a:xfrm>
        </p:spPr>
        <p:txBody>
          <a:bodyPr/>
          <a:lstStyle/>
          <a:p>
            <a:r>
              <a:rPr lang="en-IN">
                <a:latin typeface="Bell MT" panose="02020503060305020303" pitchFamily="18" charset="0"/>
              </a:rPr>
              <a:t>Conclusion</a:t>
            </a:r>
          </a:p>
        </p:txBody>
      </p:sp>
      <p:sp>
        <p:nvSpPr>
          <p:cNvPr id="4" name="Content Placeholder 2">
            <a:extLst>
              <a:ext uri="{FF2B5EF4-FFF2-40B4-BE49-F238E27FC236}">
                <a16:creationId xmlns:a16="http://schemas.microsoft.com/office/drawing/2014/main" id="{05F8F84A-AFB3-49F6-3728-F4A3C6231C0E}"/>
              </a:ext>
            </a:extLst>
          </p:cNvPr>
          <p:cNvSpPr>
            <a:spLocks noGrp="1"/>
          </p:cNvSpPr>
          <p:nvPr>
            <p:ph sz="quarter" idx="4"/>
          </p:nvPr>
        </p:nvSpPr>
        <p:spPr>
          <a:xfrm>
            <a:off x="914400" y="2316067"/>
            <a:ext cx="10511627" cy="2113890"/>
          </a:xfrm>
        </p:spPr>
        <p:txBody>
          <a:bodyPr/>
          <a:lstStyle/>
          <a:p>
            <a:pPr marL="0" indent="0">
              <a:buNone/>
            </a:pPr>
            <a:r>
              <a:rPr lang="en-US" dirty="0">
                <a:solidFill>
                  <a:schemeClr val="tx1"/>
                </a:solidFill>
              </a:rPr>
              <a:t>The IoT-based street light auto-adjusts brightness using sensors, turning ON at night, OFF by day, to save energy and improve safety.</a:t>
            </a:r>
          </a:p>
          <a:p>
            <a:pPr marL="0" indent="0">
              <a:buNone/>
            </a:pPr>
            <a:r>
              <a:rPr lang="en-US" dirty="0">
                <a:solidFill>
                  <a:schemeClr val="tx1"/>
                </a:solidFill>
              </a:rPr>
              <a:t>This technology enhances urban efficiency by providing optimal lighting when needed, reducing electricity costs and extending the lifespan of the lights.</a:t>
            </a:r>
          </a:p>
        </p:txBody>
      </p:sp>
    </p:spTree>
    <p:extLst>
      <p:ext uri="{BB962C8B-B14F-4D97-AF65-F5344CB8AC3E}">
        <p14:creationId xmlns:p14="http://schemas.microsoft.com/office/powerpoint/2010/main" val="897581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7C7D6-80A0-623A-6A2A-4080AC4866C9}"/>
              </a:ext>
            </a:extLst>
          </p:cNvPr>
          <p:cNvSpPr>
            <a:spLocks noGrp="1"/>
          </p:cNvSpPr>
          <p:nvPr>
            <p:ph type="title"/>
          </p:nvPr>
        </p:nvSpPr>
        <p:spPr>
          <a:xfrm>
            <a:off x="970058" y="2547703"/>
            <a:ext cx="2751152" cy="1091627"/>
          </a:xfrm>
        </p:spPr>
        <p:txBody>
          <a:bodyPr/>
          <a:lstStyle/>
          <a:p>
            <a:r>
              <a:rPr lang="en-US" dirty="0"/>
              <a:t>Result :</a:t>
            </a:r>
            <a:endParaRPr lang="en-IN" dirty="0"/>
          </a:p>
        </p:txBody>
      </p:sp>
      <p:pic>
        <p:nvPicPr>
          <p:cNvPr id="8" name="Content Placeholder 7">
            <a:extLst>
              <a:ext uri="{FF2B5EF4-FFF2-40B4-BE49-F238E27FC236}">
                <a16:creationId xmlns:a16="http://schemas.microsoft.com/office/drawing/2014/main" id="{4C1F2B50-2724-51E3-A3AE-B41F396E8355}"/>
              </a:ext>
            </a:extLst>
          </p:cNvPr>
          <p:cNvPicPr>
            <a:picLocks noGrp="1" noChangeAspect="1"/>
          </p:cNvPicPr>
          <p:nvPr>
            <p:ph sz="half" idx="15"/>
          </p:nvPr>
        </p:nvPicPr>
        <p:blipFill>
          <a:blip r:embed="rId2"/>
          <a:stretch>
            <a:fillRect/>
          </a:stretch>
        </p:blipFill>
        <p:spPr>
          <a:xfrm>
            <a:off x="3864334" y="1672989"/>
            <a:ext cx="5383034" cy="3932682"/>
          </a:xfrm>
        </p:spPr>
      </p:pic>
    </p:spTree>
    <p:extLst>
      <p:ext uri="{BB962C8B-B14F-4D97-AF65-F5344CB8AC3E}">
        <p14:creationId xmlns:p14="http://schemas.microsoft.com/office/powerpoint/2010/main" val="2245236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8D435-31E4-63F0-111B-B0052D73666D}"/>
              </a:ext>
            </a:extLst>
          </p:cNvPr>
          <p:cNvSpPr>
            <a:spLocks noGrp="1"/>
          </p:cNvSpPr>
          <p:nvPr>
            <p:ph type="title"/>
          </p:nvPr>
        </p:nvSpPr>
        <p:spPr>
          <a:xfrm>
            <a:off x="6400798" y="616110"/>
            <a:ext cx="4851647" cy="1362057"/>
          </a:xfrm>
        </p:spPr>
        <p:txBody>
          <a:bodyPr/>
          <a:lstStyle/>
          <a:p>
            <a:r>
              <a:rPr lang="en-US" sz="4400" dirty="0">
                <a:latin typeface="Bell MT" panose="02020503060305020303" pitchFamily="18" charset="0"/>
              </a:rPr>
              <a:t>Reference</a:t>
            </a:r>
            <a:endParaRPr lang="en-IN" sz="4400" dirty="0"/>
          </a:p>
        </p:txBody>
      </p:sp>
      <p:pic>
        <p:nvPicPr>
          <p:cNvPr id="4098" name="Picture 2">
            <a:extLst>
              <a:ext uri="{FF2B5EF4-FFF2-40B4-BE49-F238E27FC236}">
                <a16:creationId xmlns:a16="http://schemas.microsoft.com/office/drawing/2014/main" id="{2EEF720C-BC89-CBA5-4C01-A0AD34F7342F}"/>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1"/>
            <a:ext cx="6469811"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Arrow: Down 4">
            <a:extLst>
              <a:ext uri="{FF2B5EF4-FFF2-40B4-BE49-F238E27FC236}">
                <a16:creationId xmlns:a16="http://schemas.microsoft.com/office/drawing/2014/main" id="{8EDE0852-0A29-B363-86E5-F2D3D26B9E01}"/>
              </a:ext>
            </a:extLst>
          </p:cNvPr>
          <p:cNvSpPr/>
          <p:nvPr/>
        </p:nvSpPr>
        <p:spPr>
          <a:xfrm>
            <a:off x="8540317" y="1775797"/>
            <a:ext cx="541538" cy="1553329"/>
          </a:xfrm>
          <a:prstGeom prst="downArrow">
            <a:avLst/>
          </a:prstGeom>
          <a:solidFill>
            <a:schemeClr val="accent6">
              <a:lumMod val="20000"/>
              <a:lumOff val="8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54CE71C-B6D5-5E1D-9A1C-CB036A539D2A}"/>
              </a:ext>
            </a:extLst>
          </p:cNvPr>
          <p:cNvSpPr txBox="1"/>
          <p:nvPr/>
        </p:nvSpPr>
        <p:spPr>
          <a:xfrm>
            <a:off x="9081855" y="2560563"/>
            <a:ext cx="2017241" cy="369332"/>
          </a:xfrm>
          <a:prstGeom prst="rect">
            <a:avLst/>
          </a:prstGeom>
          <a:noFill/>
        </p:spPr>
        <p:txBody>
          <a:bodyPr wrap="square" rtlCol="0">
            <a:spAutoFit/>
          </a:bodyPr>
          <a:lstStyle/>
          <a:p>
            <a:r>
              <a:rPr lang="en-US" dirty="0"/>
              <a:t>(</a:t>
            </a:r>
            <a:r>
              <a:rPr lang="en-US" dirty="0" err="1"/>
              <a:t>Youtube</a:t>
            </a:r>
            <a:r>
              <a:rPr lang="en-US" dirty="0"/>
              <a:t> link)</a:t>
            </a:r>
            <a:endParaRPr lang="en-IN" dirty="0"/>
          </a:p>
        </p:txBody>
      </p:sp>
      <p:sp>
        <p:nvSpPr>
          <p:cNvPr id="10" name="TextBox 9">
            <a:extLst>
              <a:ext uri="{FF2B5EF4-FFF2-40B4-BE49-F238E27FC236}">
                <a16:creationId xmlns:a16="http://schemas.microsoft.com/office/drawing/2014/main" id="{C33484BD-C6F3-1FBA-A5CD-04449AD4A7A9}"/>
              </a:ext>
            </a:extLst>
          </p:cNvPr>
          <p:cNvSpPr txBox="1"/>
          <p:nvPr/>
        </p:nvSpPr>
        <p:spPr>
          <a:xfrm>
            <a:off x="5813868" y="3429000"/>
            <a:ext cx="6094520" cy="1754326"/>
          </a:xfrm>
          <a:prstGeom prst="rect">
            <a:avLst/>
          </a:prstGeom>
          <a:noFill/>
        </p:spPr>
        <p:txBody>
          <a:bodyPr wrap="square">
            <a:spAutoFit/>
          </a:bodyPr>
          <a:lstStyle/>
          <a:p>
            <a:r>
              <a:rPr lang="en-IN" dirty="0">
                <a:solidFill>
                  <a:schemeClr val="accent6"/>
                </a:solidFill>
                <a:hlinkClick r:id="rId3"/>
              </a:rPr>
              <a:t>https://youtu.be/Zn8MMA2-Opw?si=J1SXnGE5jRbFM34h</a:t>
            </a:r>
            <a:endParaRPr lang="en-IN" dirty="0">
              <a:solidFill>
                <a:schemeClr val="accent6"/>
              </a:solidFill>
            </a:endParaRPr>
          </a:p>
          <a:p>
            <a:endParaRPr lang="en-US" dirty="0"/>
          </a:p>
          <a:p>
            <a:pPr marL="342900" indent="-342900">
              <a:buAutoNum type="arabicPeriod"/>
            </a:pPr>
            <a:r>
              <a:rPr lang="es-ES" dirty="0"/>
              <a:t>1pcs LDR - </a:t>
            </a:r>
            <a:r>
              <a:rPr lang="es-ES" dirty="0">
                <a:hlinkClick r:id="rId4"/>
              </a:rPr>
              <a:t>https://amzn.to/2BUKY8B</a:t>
            </a:r>
            <a:endParaRPr lang="es-ES" dirty="0"/>
          </a:p>
          <a:p>
            <a:pPr marL="342900" indent="-342900">
              <a:buAutoNum type="arabicPeriod"/>
            </a:pPr>
            <a:r>
              <a:rPr lang="es-ES" dirty="0"/>
              <a:t> 5pcs IR </a:t>
            </a:r>
            <a:r>
              <a:rPr lang="es-ES" dirty="0" err="1"/>
              <a:t>Sensors</a:t>
            </a:r>
            <a:r>
              <a:rPr lang="es-ES" dirty="0"/>
              <a:t> - </a:t>
            </a:r>
            <a:r>
              <a:rPr lang="es-ES" dirty="0">
                <a:hlinkClick r:id="rId5"/>
              </a:rPr>
              <a:t>https://amzn.to/2GJoU4Z</a:t>
            </a:r>
            <a:endParaRPr lang="es-ES" dirty="0"/>
          </a:p>
          <a:p>
            <a:pPr marL="342900" indent="-342900">
              <a:buAutoNum type="arabicPeriod"/>
            </a:pPr>
            <a:r>
              <a:rPr lang="es-ES" dirty="0"/>
              <a:t>1pcs </a:t>
            </a:r>
            <a:r>
              <a:rPr lang="es-ES" dirty="0" err="1"/>
              <a:t>Arduino</a:t>
            </a:r>
            <a:r>
              <a:rPr lang="es-ES" dirty="0"/>
              <a:t> Uno - </a:t>
            </a:r>
            <a:r>
              <a:rPr lang="es-ES" dirty="0">
                <a:hlinkClick r:id="rId6"/>
              </a:rPr>
              <a:t>https://amzn.to/3vpGW2z</a:t>
            </a:r>
            <a:r>
              <a:rPr lang="es-ES" dirty="0"/>
              <a:t> </a:t>
            </a:r>
            <a:br>
              <a:rPr lang="es-ES" dirty="0"/>
            </a:br>
            <a:endParaRPr lang="en-IN" dirty="0"/>
          </a:p>
        </p:txBody>
      </p:sp>
      <p:sp>
        <p:nvSpPr>
          <p:cNvPr id="8" name="TextBox 7"/>
          <p:cNvSpPr txBox="1"/>
          <p:nvPr/>
        </p:nvSpPr>
        <p:spPr>
          <a:xfrm>
            <a:off x="11124387" y="4334924"/>
            <a:ext cx="1159292" cy="307777"/>
          </a:xfrm>
          <a:prstGeom prst="rect">
            <a:avLst/>
          </a:prstGeom>
          <a:noFill/>
        </p:spPr>
        <p:txBody>
          <a:bodyPr wrap="none" rtlCol="0">
            <a:spAutoFit/>
          </a:bodyPr>
          <a:lstStyle/>
          <a:p>
            <a:r>
              <a:rPr lang="en-US" sz="1400" dirty="0"/>
              <a:t>components</a:t>
            </a:r>
            <a:endParaRPr lang="en-IN" sz="1400" dirty="0"/>
          </a:p>
        </p:txBody>
      </p:sp>
      <p:sp>
        <p:nvSpPr>
          <p:cNvPr id="11" name="Double Brace 10"/>
          <p:cNvSpPr/>
          <p:nvPr/>
        </p:nvSpPr>
        <p:spPr>
          <a:xfrm>
            <a:off x="5726097" y="4031613"/>
            <a:ext cx="5291092" cy="914400"/>
          </a:xfrm>
          <a:prstGeom prst="bracePair">
            <a:avLst/>
          </a:pr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649398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qr code on a white background&#10;&#10;AI-generated content may be incorrect.">
            <a:extLst>
              <a:ext uri="{FF2B5EF4-FFF2-40B4-BE49-F238E27FC236}">
                <a16:creationId xmlns:a16="http://schemas.microsoft.com/office/drawing/2014/main" id="{36309DA0-DAC1-82DF-63CF-89AF7A86C937}"/>
              </a:ext>
            </a:extLst>
          </p:cNvPr>
          <p:cNvPicPr>
            <a:picLocks noChangeAspect="1"/>
          </p:cNvPicPr>
          <p:nvPr/>
        </p:nvPicPr>
        <p:blipFill>
          <a:blip r:embed="rId2"/>
          <a:stretch>
            <a:fillRect/>
          </a:stretch>
        </p:blipFill>
        <p:spPr>
          <a:xfrm>
            <a:off x="3171701" y="623455"/>
            <a:ext cx="5442859" cy="5037118"/>
          </a:xfrm>
          <a:prstGeom prst="rect">
            <a:avLst/>
          </a:prstGeom>
        </p:spPr>
      </p:pic>
    </p:spTree>
    <p:extLst>
      <p:ext uri="{BB962C8B-B14F-4D97-AF65-F5344CB8AC3E}">
        <p14:creationId xmlns:p14="http://schemas.microsoft.com/office/powerpoint/2010/main" val="4214145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6D0D8E4-A3E5-A74E-3A3D-4CCB7F59ECD7}"/>
              </a:ext>
            </a:extLst>
          </p:cNvPr>
          <p:cNvSpPr/>
          <p:nvPr/>
        </p:nvSpPr>
        <p:spPr>
          <a:xfrm>
            <a:off x="4267200" y="2530763"/>
            <a:ext cx="5735782" cy="1200329"/>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a:ln w="9525">
                  <a:solidFill>
                    <a:schemeClr val="bg1"/>
                  </a:solidFill>
                  <a:prstDash val="solid"/>
                </a:ln>
                <a:solidFill>
                  <a:schemeClr val="accent5"/>
                </a:solidFill>
                <a:effectLst>
                  <a:glow rad="139700">
                    <a:schemeClr val="accent4">
                      <a:satMod val="175000"/>
                      <a:alpha val="40000"/>
                    </a:schemeClr>
                  </a:glow>
                  <a:outerShdw blurRad="12700" dist="38100" dir="2700000" algn="tl" rotWithShape="0">
                    <a:schemeClr val="accent5">
                      <a:lumMod val="60000"/>
                      <a:lumOff val="40000"/>
                    </a:schemeClr>
                  </a:outerShdw>
                  <a:reflection blurRad="6350" stA="55000" endA="50" endPos="85000" dist="60007" dir="5400000" sy="-100000" algn="bl" rotWithShape="0"/>
                </a:effectLst>
              </a:rPr>
              <a:t>Thank you.. </a:t>
            </a:r>
          </a:p>
        </p:txBody>
      </p:sp>
    </p:spTree>
    <p:extLst>
      <p:ext uri="{BB962C8B-B14F-4D97-AF65-F5344CB8AC3E}">
        <p14:creationId xmlns:p14="http://schemas.microsoft.com/office/powerpoint/2010/main" val="6856810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425</TotalTime>
  <Words>1024</Words>
  <Application>Microsoft Office PowerPoint</Application>
  <PresentationFormat>Widescreen</PresentationFormat>
  <Paragraphs>178</Paragraphs>
  <Slides>16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Algerian</vt:lpstr>
      <vt:lpstr>Arial</vt:lpstr>
      <vt:lpstr>Arial Black</vt:lpstr>
      <vt:lpstr>Baskerville Old Face</vt:lpstr>
      <vt:lpstr>Bell MT</vt:lpstr>
      <vt:lpstr>Book Antiqua</vt:lpstr>
      <vt:lpstr>Calibri</vt:lpstr>
      <vt:lpstr>Sabon Next LT</vt:lpstr>
      <vt:lpstr>Custom</vt:lpstr>
      <vt:lpstr>PowerPoint Presentation</vt:lpstr>
      <vt:lpstr> abstract</vt:lpstr>
      <vt:lpstr>Introduction </vt:lpstr>
      <vt:lpstr>PowerPoint Presentation</vt:lpstr>
      <vt:lpstr>PowerPoint Presentation</vt:lpstr>
      <vt:lpstr>PowerPoint Presentation</vt:lpstr>
      <vt:lpstr>PowerPoint Presentation</vt:lpstr>
      <vt:lpstr>PowerPoint Presentation</vt:lpstr>
      <vt:lpstr>PROBLEM STATEMENT</vt:lpstr>
      <vt:lpstr>Proposed Solutions for Smart Street Light Systems</vt:lpstr>
      <vt:lpstr>FUTURE SCOPE </vt:lpstr>
      <vt:lpstr>Conclusion</vt:lpstr>
      <vt:lpstr>Result :</vt:lpstr>
      <vt:lpstr>Reference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dsyed1717@gmail.com</dc:creator>
  <cp:lastModifiedBy>Dsyed1717@gmail.com</cp:lastModifiedBy>
  <cp:revision>36</cp:revision>
  <dcterms:created xsi:type="dcterms:W3CDTF">2025-08-29T12:41:59Z</dcterms:created>
  <dcterms:modified xsi:type="dcterms:W3CDTF">2025-12-08T05:58:57Z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